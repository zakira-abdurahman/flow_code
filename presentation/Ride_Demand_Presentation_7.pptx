
<file path=[Content_Types].xml><?xml version="1.0" encoding="utf-8"?>
<Types xmlns="http://schemas.openxmlformats.org/package/2006/content-types">
  <Default Extension="xlsx" ContentType="application/vnd.openxmlformats-officedocument.spreadsheetml.shee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ome" id="{a83b41c4-2bf7-cc40-deb6-8afb098ef3f3}">
          <p14:sldIdLst>
            <p14:sldId id="256"/>
          </p14:sldIdLst>
        </p14:section>
        <p14:section name="1 Problem" id="{78805e31-83a5-9b54-640c-8c6c392b3fba}">
          <p14:sldIdLst>
            <p14:sldId id="257"/>
          </p14:sldIdLst>
        </p14:section>
        <p14:section name="2 Cleaning &amp; integration" id="{1b99e216-0b4c-e76d-79db-6227724b67a4}">
          <p14:sldIdLst>
            <p14:sldId id="258"/>
          </p14:sldIdLst>
        </p14:section>
        <p14:section name="3 What the data says" id="{66a6a125-583d-772a-9314-4fabb9c9183b}">
          <p14:sldIdLst>
            <p14:sldId id="259"/>
            <p14:sldId id="260"/>
          </p14:sldIdLst>
        </p14:section>
        <p14:section name="4 Modeling &amp; evaluation" id="{a0c34af0-2c4b-bc81-dc6a-68f340f9e37d}">
          <p14:sldIdLst>
            <p14:sldId id="261"/>
          </p14:sldIdLst>
        </p14:section>
        <p14:section name="5 Errors, score &amp; next steps" id="{9995f445-c1eb-f547-8973-0465e0f20f6c}">
          <p14:sldIdLst>
            <p14:sldId id="262"/>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3" Type="http://schemas.openxmlformats.org/officeDocument/2006/relationships/tableStyles" Target="tableStyles.xml"/><Relationship Id="rId12" Type="http://schemas.openxmlformats.org/officeDocument/2006/relationships/viewProps" Target="viewProps.xml"/><Relationship Id="rId11" Type="http://schemas.openxmlformats.org/officeDocument/2006/relationships/presProps" Target="presProps.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1" Type="http://schemas.openxmlformats.org/officeDocument/2006/relationships/package" Target="../embeddings/Workbook2.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en-US" sz="1200" b="0" i="0" u="none" strike="noStrike" kern="1200" baseline="0">
                <a:solidFill>
                  <a:srgbClr val="1A2230"/>
                </a:solidFill>
                <a:latin typeface="+mn-lt"/>
                <a:ea typeface="+mn-ea"/>
                <a:cs typeface="+mn-cs"/>
              </a:defRPr>
            </a:pPr>
            <a:r>
              <a:rPr sz="1200" b="0" i="0" u="none" strike="noStrike">
                <a:solidFill>
                  <a:srgbClr val="1A2230"/>
                </a:solidFill>
                <a:latin typeface="+mn-lt"/>
              </a:rPr>
              <a:t>Ablation · mean RMSE over 4 folds (lower is better)</a:t>
            </a:r>
            <a:endParaRPr sz="1200" b="0" i="0" u="none" strike="noStrike">
              <a:solidFill>
                <a:srgbClr val="1A2230"/>
              </a:solidFill>
              <a:latin typeface="+mn-lt"/>
            </a:endParaRPr>
          </a:p>
        </c:rich>
      </c:tx>
      <c:layout/>
      <c:overlay val="0"/>
    </c:title>
    <c:autoTitleDeleted val="0"/>
    <c:plotArea>
      <c:layout/>
      <c:barChart>
        <c:barDir val="bar"/>
        <c:grouping val="clustered"/>
        <c:varyColors val="0"/>
        <c:ser>
          <c:idx val="0"/>
          <c:order val="0"/>
          <c:tx>
            <c:strRef>
              <c:f>Sheet1!$B$1</c:f>
              <c:strCache>
                <c:ptCount val="1"/>
                <c:pt idx="0">
                  <c:v>RMSE</c:v>
                </c:pt>
              </c:strCache>
            </c:strRef>
          </c:tx>
          <c:spPr>
            <a:solidFill>
              <a:srgbClr val="8A94A6"/>
            </a:solidFill>
            <a:effectLst/>
          </c:spPr>
          <c:invertIfNegative val="0"/>
          <c:dPt>
            <c:idx val="0"/>
            <c:invertIfNegative val="0"/>
            <c:bubble3D val="0"/>
            <c:spPr>
              <a:solidFill>
                <a:srgbClr val="8A94A6"/>
              </a:solidFill>
              <a:effectLst/>
            </c:spPr>
          </c:dPt>
          <c:dPt>
            <c:idx val="1"/>
            <c:invertIfNegative val="0"/>
            <c:bubble3D val="0"/>
            <c:spPr>
              <a:solidFill>
                <a:srgbClr val="2C7BE5"/>
              </a:solidFill>
              <a:effectLst/>
            </c:spPr>
          </c:dPt>
          <c:dPt>
            <c:idx val="2"/>
            <c:invertIfNegative val="0"/>
            <c:bubble3D val="0"/>
            <c:spPr>
              <a:solidFill>
                <a:srgbClr val="E8692F"/>
              </a:solidFill>
              <a:effectLst/>
            </c:spPr>
          </c:dPt>
          <c:dPt>
            <c:idx val="3"/>
            <c:invertIfNegative val="0"/>
            <c:bubble3D val="0"/>
            <c:spPr>
              <a:solidFill>
                <a:srgbClr val="15294A"/>
              </a:solidFill>
              <a:effectLst/>
            </c:spPr>
          </c:dPt>
          <c:dLbls>
            <c:numFmt formatCode="0.00" sourceLinked="0"/>
            <c:spPr>
              <a:noFill/>
              <a:ln>
                <a:noFill/>
              </a:ln>
              <a:effectLst/>
            </c:spPr>
            <c:txPr>
              <a:bodyPr rot="0" spcFirstLastPara="0" vertOverflow="ellipsis" vert="horz" wrap="square" lIns="38100" tIns="19050" rIns="38100" bIns="19050" anchor="ctr" anchorCtr="1"/>
              <a:lstStyle/>
              <a:p>
                <a:pPr>
                  <a:defRPr lang="en-US" sz="1100" b="0" i="0" u="none" strike="noStrike" kern="1200" baseline="0">
                    <a:solidFill>
                      <a:srgbClr val="1A2230"/>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Sheet1!$A$2:$A$5</c:f>
              <c:strCache>
                <c:ptCount val="4"/>
                <c:pt idx="0">
                  <c:v>Calendar + zone + trend</c:v>
                </c:pt>
                <c:pt idx="1">
                  <c:v>+ weather</c:v>
                </c:pt>
                <c:pt idx="2">
                  <c:v>+ events</c:v>
                </c:pt>
                <c:pt idx="3">
                  <c:v>+ weather + events</c:v>
                </c:pt>
              </c:strCache>
            </c:strRef>
          </c:cat>
          <c:val>
            <c:numRef>
              <c:f>Sheet1!$B$2:$B$5</c:f>
              <c:numCache>
                <c:formatCode>General</c:formatCode>
                <c:ptCount val="4"/>
                <c:pt idx="0">
                  <c:v>10.76</c:v>
                </c:pt>
                <c:pt idx="1">
                  <c:v>9.84</c:v>
                </c:pt>
                <c:pt idx="2">
                  <c:v>10.43</c:v>
                </c:pt>
                <c:pt idx="3">
                  <c:v>9.52</c:v>
                </c:pt>
              </c:numCache>
            </c:numRef>
          </c:val>
        </c:ser>
        <c:dLbls>
          <c:showLegendKey val="0"/>
          <c:showVal val="1"/>
          <c:showCatName val="0"/>
          <c:showSerName val="0"/>
          <c:showPercent val="0"/>
          <c:showBubbleSize val="0"/>
        </c:dLbls>
        <c:gapWidth val="45"/>
        <c:overlap val="0"/>
        <c:axId val="2094734554"/>
        <c:axId val="2094734552"/>
      </c:barChart>
      <c:catAx>
        <c:axId val="2094734554"/>
        <c:scaling>
          <c:orientation val="maxMin"/>
        </c:scaling>
        <c:delete val="0"/>
        <c:axPos val="l"/>
        <c:numFmt formatCode="General" sourceLinked="1"/>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en-US" sz="1100" b="0" i="0" u="none" strike="noStrike" kern="1200" baseline="0">
                <a:solidFill>
                  <a:srgbClr val="1A2230"/>
                </a:solidFill>
                <a:latin typeface="+mn-lt"/>
                <a:ea typeface="+mn-ea"/>
                <a:cs typeface="+mn-cs"/>
              </a:defRPr>
            </a:pPr>
          </a:p>
        </c:txPr>
        <c:crossAx val="2094734552"/>
        <c:crosses val="autoZero"/>
        <c:auto val="1"/>
        <c:lblAlgn val="ctr"/>
        <c:lblOffset val="100"/>
        <c:noMultiLvlLbl val="1"/>
      </c:catAx>
      <c:valAx>
        <c:axId val="2094734552"/>
        <c:scaling>
          <c:orientation val="minMax"/>
          <c:max val="12.5"/>
          <c:min val="0"/>
        </c:scaling>
        <c:delete val="1"/>
        <c:axPos val="t"/>
        <c:numFmt formatCode="General" sourceLinked="0"/>
        <c:majorTickMark val="out"/>
        <c:minorTickMark val="none"/>
        <c:tickLblPos val="low"/>
        <c:txPr>
          <a:bodyPr rot="-60000000" spcFirstLastPara="0" vertOverflow="ellipsis" vert="horz" wrap="square" anchor="ctr" anchorCtr="1"/>
          <a:lstStyle/>
          <a:p>
            <a:pPr>
              <a:defRPr lang="en-US" sz="1200" b="0" i="0" u="none" strike="noStrike" kern="1200" baseline="0">
                <a:solidFill>
                  <a:srgbClr val="000000"/>
                </a:solidFill>
                <a:latin typeface="+mn-lt"/>
                <a:ea typeface="+mn-ea"/>
                <a:cs typeface="+mn-cs"/>
              </a:defRPr>
            </a:pPr>
          </a:p>
        </c:txPr>
        <c:crossAx val="2094734554"/>
        <c:crosses val="autoZero"/>
        <c:crossBetween val="between"/>
      </c:valAx>
      <c:spPr>
        <a:noFill/>
        <a:ln>
          <a:noFill/>
        </a:ln>
        <a:effectLst/>
      </c:spPr>
    </c:plotArea>
    <c:plotVisOnly val="1"/>
    <c:dispBlanksAs val="span"/>
    <c:showDLblsOverMax val="0"/>
    <c:extLst>
      <c:ext uri="{0b15fc19-7d7d-44ad-8c2d-2c3a37ce22c3}">
        <chartProps xmlns="https://web.wps.cn/et/2018/main" chartId="{def9d563-4aba-4701-83ac-113d83532705}"/>
      </c:ext>
    </c:extLst>
  </c:chart>
  <c:spPr>
    <a:noFill/>
    <a:ln>
      <a:noFill/>
    </a:ln>
    <a:effectLst/>
  </c:spPr>
  <c:txPr>
    <a:bodyPr/>
    <a:lstStyle/>
    <a:p>
      <a:pPr>
        <a:defRPr lang="en-US"/>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en-US" sz="1200" b="0" i="0" u="none" strike="noStrike" kern="1200" baseline="0">
                <a:solidFill>
                  <a:srgbClr val="1A2230"/>
                </a:solidFill>
                <a:latin typeface="+mn-lt"/>
                <a:ea typeface="+mn-ea"/>
                <a:cs typeface="+mn-cs"/>
              </a:defRPr>
            </a:pPr>
            <a:r>
              <a:rPr sz="1200" b="0" i="0" u="none" strike="noStrike">
                <a:solidFill>
                  <a:srgbClr val="1A2230"/>
                </a:solidFill>
                <a:latin typeface="+mn-lt"/>
              </a:rPr>
              <a:t>Rolling-origin RMSE by validation fortnight</a:t>
            </a:r>
            <a:endParaRPr sz="1200" b="0" i="0" u="none" strike="noStrike">
              <a:solidFill>
                <a:srgbClr val="1A2230"/>
              </a:solidFill>
              <a:latin typeface="+mn-lt"/>
            </a:endParaRPr>
          </a:p>
        </c:rich>
      </c:tx>
      <c:layout/>
      <c:overlay val="0"/>
    </c:title>
    <c:autoTitleDeleted val="0"/>
    <c:plotArea>
      <c:layout/>
      <c:barChart>
        <c:barDir val="col"/>
        <c:grouping val="clustered"/>
        <c:varyColors val="0"/>
        <c:ser>
          <c:idx val="0"/>
          <c:order val="0"/>
          <c:tx>
            <c:strRef>
              <c:f>Sheet1!$B$1</c:f>
              <c:strCache>
                <c:ptCount val="1"/>
                <c:pt idx="0">
                  <c:v>Seasonal naive</c:v>
                </c:pt>
              </c:strCache>
            </c:strRef>
          </c:tx>
          <c:spPr>
            <a:solidFill>
              <a:srgbClr val="C9D3E3"/>
            </a:solidFill>
            <a:effectLst/>
          </c:spPr>
          <c:invertIfNegative val="0"/>
          <c:dLbls>
            <c:numFmt formatCode="0.0" sourceLinked="0"/>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rgbClr val="1A2230"/>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Sheet1!$A$2:$A$5</c:f>
              <c:strCache>
                <c:ptCount val="4"/>
                <c:pt idx="0">
                  <c:v>6 Sep</c:v>
                </c:pt>
                <c:pt idx="1">
                  <c:v>20 Sep</c:v>
                </c:pt>
                <c:pt idx="2">
                  <c:v>4 Oct</c:v>
                </c:pt>
                <c:pt idx="3">
                  <c:v>18 Oct</c:v>
                </c:pt>
              </c:strCache>
            </c:strRef>
          </c:cat>
          <c:val>
            <c:numRef>
              <c:f>Sheet1!$B$2:$B$5</c:f>
              <c:numCache>
                <c:formatCode>General</c:formatCode>
                <c:ptCount val="4"/>
                <c:pt idx="0">
                  <c:v>12</c:v>
                </c:pt>
                <c:pt idx="1">
                  <c:v>12.48</c:v>
                </c:pt>
                <c:pt idx="2">
                  <c:v>9.89</c:v>
                </c:pt>
                <c:pt idx="3">
                  <c:v>9.56</c:v>
                </c:pt>
              </c:numCache>
            </c:numRef>
          </c:val>
        </c:ser>
        <c:ser>
          <c:idx val="1"/>
          <c:order val="1"/>
          <c:tx>
            <c:strRef>
              <c:f>Sheet1!$C$1</c:f>
              <c:strCache>
                <c:ptCount val="1"/>
                <c:pt idx="0">
                  <c:v>LightGBM (tuned)</c:v>
                </c:pt>
              </c:strCache>
            </c:strRef>
          </c:tx>
          <c:spPr>
            <a:solidFill>
              <a:srgbClr val="2C7BE5"/>
            </a:solidFill>
            <a:effectLst/>
          </c:spPr>
          <c:invertIfNegative val="0"/>
          <c:dLbls>
            <c:numFmt formatCode="0.0" sourceLinked="0"/>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rgbClr val="1A2230"/>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Sheet1!$A$2:$A$5</c:f>
              <c:strCache>
                <c:ptCount val="4"/>
                <c:pt idx="0">
                  <c:v>6 Sep</c:v>
                </c:pt>
                <c:pt idx="1">
                  <c:v>20 Sep</c:v>
                </c:pt>
                <c:pt idx="2">
                  <c:v>4 Oct</c:v>
                </c:pt>
                <c:pt idx="3">
                  <c:v>18 Oct</c:v>
                </c:pt>
              </c:strCache>
            </c:strRef>
          </c:cat>
          <c:val>
            <c:numRef>
              <c:f>Sheet1!$C$2:$C$5</c:f>
              <c:numCache>
                <c:formatCode>General</c:formatCode>
                <c:ptCount val="4"/>
                <c:pt idx="0">
                  <c:v>9.47</c:v>
                </c:pt>
                <c:pt idx="1">
                  <c:v>10.58</c:v>
                </c:pt>
                <c:pt idx="2">
                  <c:v>8.62</c:v>
                </c:pt>
                <c:pt idx="3">
                  <c:v>8.91</c:v>
                </c:pt>
              </c:numCache>
            </c:numRef>
          </c:val>
        </c:ser>
        <c:dLbls>
          <c:showLegendKey val="0"/>
          <c:showVal val="1"/>
          <c:showCatName val="0"/>
          <c:showSerName val="0"/>
          <c:showPercent val="0"/>
          <c:showBubbleSize val="0"/>
        </c:dLbls>
        <c:gapWidth val="60"/>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US" sz="1100" b="0" i="0" u="none" strike="noStrike" kern="1200" baseline="0">
                <a:solidFill>
                  <a:srgbClr val="1A2230"/>
                </a:solidFill>
                <a:latin typeface="+mn-lt"/>
                <a:ea typeface="+mn-ea"/>
                <a:cs typeface="+mn-cs"/>
              </a:defRPr>
            </a:pPr>
          </a:p>
        </c:txPr>
        <c:crossAx val="2094734552"/>
        <c:crosses val="autoZero"/>
        <c:auto val="1"/>
        <c:lblAlgn val="ctr"/>
        <c:lblOffset val="100"/>
        <c:noMultiLvlLbl val="1"/>
      </c:catAx>
      <c:valAx>
        <c:axId val="2094734552"/>
        <c:scaling>
          <c:orientation val="minMax"/>
          <c:max val="15"/>
          <c:min val="0"/>
        </c:scaling>
        <c:delete val="1"/>
        <c:axPos val="l"/>
        <c:numFmt formatCode="General" sourceLinked="0"/>
        <c:majorTickMark val="out"/>
        <c:minorTickMark val="none"/>
        <c:tickLblPos val="nextTo"/>
        <c:txPr>
          <a:bodyPr rot="-60000000" spcFirstLastPara="0" vertOverflow="ellipsis" vert="horz" wrap="square" anchor="ctr" anchorCtr="1"/>
          <a:lstStyle/>
          <a:p>
            <a:pPr>
              <a:defRPr lang="en-US" sz="1200" b="0" i="0" u="none" strike="noStrike" kern="1200" baseline="0">
                <a:solidFill>
                  <a:srgbClr val="000000"/>
                </a:solidFill>
                <a:latin typeface="+mn-lt"/>
                <a:ea typeface="+mn-ea"/>
                <a:cs typeface="+mn-cs"/>
              </a:defRPr>
            </a:pPr>
          </a:p>
        </c:txPr>
        <c:crossAx val="2094734554"/>
        <c:crosses val="autoZero"/>
        <c:crossBetween val="between"/>
      </c:valAx>
      <c:spPr>
        <a:noFill/>
        <a:ln>
          <a:noFill/>
        </a:ln>
        <a:effectLst/>
      </c:spPr>
    </c:plotArea>
    <c:legend>
      <c:legendPos val="r"/>
      <c:layout/>
      <c:overlay val="0"/>
      <c:txPr>
        <a:bodyPr rot="0" spcFirstLastPara="0" vertOverflow="ellipsis" vert="horz" wrap="square" anchor="ctr" anchorCtr="1"/>
        <a:lstStyle/>
        <a:p>
          <a:pPr>
            <a:defRPr lang="en-US" sz="1100" b="0" i="0" u="none" strike="noStrike" kern="1200" baseline="0">
              <a:solidFill>
                <a:srgbClr val="1A2230"/>
              </a:solidFill>
              <a:latin typeface="+mn-lt"/>
              <a:ea typeface="+mn-ea"/>
              <a:cs typeface="+mn-lt"/>
            </a:defRPr>
          </a:pPr>
        </a:p>
      </c:txPr>
    </c:legend>
    <c:plotVisOnly val="1"/>
    <c:dispBlanksAs val="span"/>
    <c:showDLblsOverMax val="0"/>
    <c:extLst>
      <c:ext uri="{0b15fc19-7d7d-44ad-8c2d-2c3a37ce22c3}">
        <chartProps xmlns="https://web.wps.cn/et/2018/main" chartId="{5fcfc879-a51c-43a9-8382-0b009a0d5daf}"/>
      </c:ext>
    </c:extLst>
  </c:chart>
  <c:spPr>
    <a:noFill/>
    <a:ln>
      <a:noFill/>
    </a:ln>
    <a:effectLst/>
  </c:spPr>
  <c:txPr>
    <a:bodyPr/>
    <a:lstStyle/>
    <a:p>
      <a:pPr>
        <a:defRPr lang="en-US"/>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s) Good morning. We are Niyat Debesay, Henok Solomon, Zakira Abdurahman and Amina Aman. Our project forecasts how many rides each of 12 Addis Ababa zones will need, hour by hour, for 1–14 November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A ride-hailing platform has to position drivers before demand appears. We forecast trips for each of 12 zones for every hour of 1–14 November — 4,032 zone-hours. We have three tables: ride demand per zone-hour, one city-wide weather station, and an events calendar. Each has its own problems: 55 zone spellings, three date formats, inflated counts, a UTC clock, duplicate events.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s) Cleaning: 55 zone spellings mapped to 12, every date parsed with an explicit format (day-first proven: 351 matches vs 27), 124 counts inflated ×8 divided back, 353 Fahrenheit temperatures converted, −1 and −9999 codes treated as missing. We keep 97% of trip rows.
Join map: trips are the left table in every join because the zone-hour is what we forecast — no join may add or drop a row, and the count stays 82,742. Weather joins many-to-one on the hour; events join on zone and the interval from 2 h before start to 2 h after end; holidays become flags.
A4: weather matches 100% of zone-hours (186 station hours filled and flagged); 1,829 zone-hours are inside an event window; 146 of 159 events matched — 6 were cancelled, 7 fall in the test period.
The clock problem: weather is in UTC. Without the +3 h shift, rain would land three hours early. The temperature curve proves it — peak at noon on the raw clock, 3 pm after conversion.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s) Before the two key findings, the shape of demand. City-wide demand grew about 41% from January to October, steadily — so our model uses a trend term and lags. Weekday holidays dip to around 80% of a normal day. The May dip is a data outage, not a demand drop.
Clustering the hourly profiles gives five zone types: business zones like Piassa collapse at weekends, Merkato has one midday plateau, residential zones swap the morning peak for a flat weekend midday, and Bole peaks late on weekend nights. So zone type is a key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Our two most interesting findings. Rain: compared with expected dry-hour demand for the same zone, weekday and hour, light rain adds about 15% and heavy rain about 60% — everywhere except Merkato, which drops to 0.63×, likely because the outdoor market stops. Events: football builds to 1.7× two hours before kick-off and jumps to 2.2× just after the final whistle; concerts peak at 1.9× as they end. That sets our event window. Also worth knowing: holidays on weekdays run at about 0.8× a normal weekday (fig09).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s) Baselines first. The mean predictor scores 27; the seasonal-naive baseline — same zone, weekday and hour over the last 8 weeks — scores 11. Ridge and random forest don't beat it reliably; LightGBM does, because it learns zone × hour × weekday × rain × event interactions on its own and its count losses suit trips.
Ablation on identical folds: weather alone cuts RMSE 8.6%, events 3.1%, both together 11.5%.
Rolling origin: each fold trains from scratch on everything before its cut and predicts the next 14 days; tuning used an earlier split (23 Aug–5 Sep), so the four evaluation fortnights stay unseen. The model wins in all four; the worst fold, 20 Sep, was simply the busiest.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s) Error analysis on the out-of-fold predictions: errors are largest in Kazanchis, Merkato and Bole, at 17–18 h, and on holidays. Of the ten biggest misses, four are rainy rush hours — Kazanchis on 26 September at 5 pm had 311 trips against 131 predicted — three are events with bigger crowds than expected, and three are multi-hour spikes on 10 September with nothing in the calendar. The model also under-predicts about 1 trip on average because demand keeps growing; weighting recent weeks did not fix it, so we kept the simpler model.
Final score: MAE 6.1 trips, RMSE 9.39 — about 5 drivers off in a typical zone-hour. Retrained on all of Jan–Oct, the test forecast (right) keeps the daily rhythm, mean 32.8 vs 33.4 in late October.
Demo: [open the link — ask the judges for a zone and a date, e.g. Bole on Saturday 8 Nov or Merkato on a weekday].
Next: rain-by-zone-type interactions, detecting events missing from the calendar, and prediction intervals so operations can plan a range of drivers.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Title">
    <p:bg>
      <p:bgPr>
        <a:solidFill>
          <a:schemeClr val="tx2"/>
        </a:solidFill>
        <a:effectLst/>
      </p:bgPr>
    </p:bg>
    <p:spTree>
      <p:nvGrpSpPr>
        <p:cNvPr id="1" name=""/>
        <p:cNvGrpSpPr/>
        <p:nvPr/>
      </p:nvGrpSpPr>
      <p:grpSpPr>
        <a:xfrm>
          <a:off x="0" y="0"/>
          <a:ext cx="0" cy="0"/>
          <a:chOff x="0" y="0"/>
          <a:chExt cx="0" cy="0"/>
        </a:xfrm>
      </p:grpSpPr>
      <p:sp>
        <p:nvSpPr>
          <p:cNvPr id="2" name="Text 0"/>
          <p:cNvSpPr/>
          <p:nvPr>
            <p:ph type="body" idx="100" hasCustomPrompt="1"/>
          </p:nvPr>
        </p:nvSpPr>
        <p:spPr>
          <a:xfrm>
            <a:off x="548640" y="411480"/>
            <a:ext cx="10972800" cy="365760"/>
          </a:xfrm>
          <a:prstGeom prst="rect">
            <a:avLst/>
          </a:prstGeom>
          <a:noFill/>
        </p:spPr>
        <p:txBody>
          <a:bodyPr wrap="square" rtlCol="0"/>
          <a:lstStyle>
            <a:lvl1pPr marL="0" indent="0">
              <a:buNone/>
              <a:defRPr lang="en-US" sz="1300" b="1" kern="0" spc="200" dirty="0">
                <a:solidFill>
                  <a:schemeClr val="accent5"/>
                </a:solidFill>
              </a:defRPr>
            </a:lvl1pPr>
          </a:lstStyle>
          <a:p>
            <a:pPr marL="0" indent="0">
              <a:buNone/>
            </a:pPr>
            <a:endParaRPr lang="en-US" sz="1300" dirty="0"/>
          </a:p>
        </p:txBody>
      </p:sp>
      <p:sp>
        <p:nvSpPr>
          <p:cNvPr id="3" name="Text 0"/>
          <p:cNvSpPr/>
          <p:nvPr>
            <p:ph type="title" idx="101" hasCustomPrompt="1"/>
          </p:nvPr>
        </p:nvSpPr>
        <p:spPr>
          <a:xfrm>
            <a:off x="548640" y="777240"/>
            <a:ext cx="11064240" cy="914400"/>
          </a:xfrm>
          <a:prstGeom prst="rect">
            <a:avLst/>
          </a:prstGeom>
          <a:noFill/>
        </p:spPr>
        <p:txBody>
          <a:bodyPr wrap="square" rtlCol="0"/>
          <a:lstStyle>
            <a:lvl1pPr marL="0" indent="0" algn="l">
              <a:buNone/>
              <a:defRPr lang="en-US" sz="3000" b="1" dirty="0">
                <a:solidFill>
                  <a:schemeClr val="bg1"/>
                </a:solidFill>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11338560" y="6400800"/>
            <a:ext cx="457200" cy="274320"/>
          </a:xfrm>
          <a:prstGeom prst="rect">
            <a:avLst/>
          </a:prstGeom>
        </p:spPr>
        <p:txBody>
          <a:bodyPr/>
          <a:lstStyle>
            <a:lvl1pPr>
              <a:defRPr sz="1000">
                <a:solidFill>
                  <a:schemeClr val="accent6"/>
                </a:solidFill>
                <a:latin typeface="Calibri" panose="020F0502020204030204"/>
                <a:ea typeface="Calibri" panose="020F0502020204030204"/>
                <a:cs typeface="Calibri" panose="020F0502020204030204"/>
              </a:defRPr>
            </a:lvl1pPr>
          </a:lstStyle>
          <a:p>
            <a:pPr algn="l"/>
            <a:fld id="{F7021451-1387-4CA6-816F-3879F97B5CBC}" type="slidenum">
              <a:rPr lang="en-US" b="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Home">
    <p:bg>
      <p:bgPr>
        <a:solidFill>
          <a:schemeClr val="tx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p:nvPr>
            <p:ph type="body" idx="100" hasCustomPrompt="1"/>
          </p:nvPr>
        </p:nvSpPr>
        <p:spPr>
          <a:xfrm>
            <a:off x="548640" y="320040"/>
            <a:ext cx="10972800" cy="320040"/>
          </a:xfrm>
          <a:prstGeom prst="rect">
            <a:avLst/>
          </a:prstGeom>
          <a:noFill/>
        </p:spPr>
        <p:txBody>
          <a:bodyPr wrap="square" rtlCol="0"/>
          <a:lstStyle>
            <a:lvl1pPr marL="0" indent="0">
              <a:buNone/>
              <a:defRPr lang="en-US" sz="1200" b="1" kern="0" spc="200" dirty="0">
                <a:solidFill>
                  <a:schemeClr val="accent1"/>
                </a:solidFill>
              </a:defRPr>
            </a:lvl1pPr>
          </a:lstStyle>
          <a:p>
            <a:pPr marL="0" indent="0">
              <a:buNone/>
            </a:pPr>
            <a:endParaRPr lang="en-US" sz="1200" dirty="0"/>
          </a:p>
        </p:txBody>
      </p:sp>
      <p:sp>
        <p:nvSpPr>
          <p:cNvPr id="3" name="Text 0"/>
          <p:cNvSpPr/>
          <p:nvPr>
            <p:ph type="title" idx="101" hasCustomPrompt="1"/>
          </p:nvPr>
        </p:nvSpPr>
        <p:spPr>
          <a:xfrm>
            <a:off x="548640" y="621792"/>
            <a:ext cx="11064240" cy="685800"/>
          </a:xfrm>
          <a:prstGeom prst="rect">
            <a:avLst/>
          </a:prstGeom>
          <a:noFill/>
        </p:spPr>
        <p:txBody>
          <a:bodyPr wrap="square" rtlCol="0"/>
          <a:lstStyle>
            <a:lvl1pPr marL="0" indent="0" algn="l">
              <a:buNone/>
              <a:defRPr lang="en-US" sz="2800" b="1" dirty="0">
                <a:solidFill>
                  <a:schemeClr val="tx2"/>
                </a:solidFill>
              </a:defRPr>
            </a:lvl1pPr>
          </a:lstStyle>
          <a:p>
            <a:pPr marL="0" indent="0" algn="l">
              <a:buNone/>
            </a:pPr>
            <a:endParaRPr lang="en-US" sz="2800" dirty="0"/>
          </a:p>
        </p:txBody>
      </p:sp>
      <p:sp>
        <p:nvSpPr>
          <p:cNvPr id="4" name="Text 0"/>
          <p:cNvSpPr/>
          <p:nvPr/>
        </p:nvSpPr>
        <p:spPr>
          <a:xfrm>
            <a:off x="548640" y="6419088"/>
            <a:ext cx="5486400" cy="256032"/>
          </a:xfrm>
          <a:prstGeom prst="rect">
            <a:avLst/>
          </a:prstGeom>
          <a:noFill/>
        </p:spPr>
        <p:txBody>
          <a:bodyPr wrap="square" lIns="0" tIns="0" rIns="0" bIns="0" rtlCol="0" anchor="ctr"/>
          <a:lstStyle/>
          <a:p>
            <a:pPr marL="0" indent="0">
              <a:buNone/>
            </a:pPr>
            <a:r>
              <a:rPr lang="en-US" sz="1000" dirty="0">
                <a:solidFill>
                  <a:schemeClr val="accent4"/>
                </a:solidFill>
                <a:latin typeface="Calibri" panose="020F0502020204030204" pitchFamily="34" charset="0"/>
                <a:ea typeface="Calibri" panose="020F0502020204030204" pitchFamily="34" charset="-122"/>
                <a:cs typeface="Calibri" panose="020F0502020204030204" pitchFamily="34" charset="-120"/>
              </a:rPr>
              <a:t>Addis Ababa ride demand · zone-hour forecasting</a:t>
            </a:r>
            <a:endParaRPr lang="en-US" sz="1000" dirty="0"/>
          </a:p>
        </p:txBody>
      </p:sp>
      <p:sp>
        <p:nvSpPr>
          <p:cNvPr id="25" name="Slide Number Placeholder 0"/>
          <p:cNvSpPr>
            <a:spLocks noGrp="1"/>
          </p:cNvSpPr>
          <p:nvPr>
            <p:ph type="sldNum" sz="quarter" idx="4294967295"/>
          </p:nvPr>
        </p:nvSpPr>
        <p:spPr>
          <a:xfrm>
            <a:off x="11338560" y="6400800"/>
            <a:ext cx="457200" cy="274320"/>
          </a:xfrm>
          <a:prstGeom prst="rect">
            <a:avLst/>
          </a:prstGeom>
        </p:spPr>
        <p:txBody>
          <a:bodyPr/>
          <a:lstStyle>
            <a:lvl1pPr>
              <a:defRPr sz="1000">
                <a:solidFill>
                  <a:schemeClr val="accent4"/>
                </a:solidFill>
                <a:latin typeface="Calibri" panose="020F0502020204030204"/>
                <a:ea typeface="Calibri" panose="020F0502020204030204"/>
                <a:cs typeface="Calibri" panose="020F0502020204030204"/>
              </a:defRPr>
            </a:lvl1pPr>
          </a:lstStyle>
          <a:p>
            <a:pPr algn="l"/>
            <a:fld id="{F7021451-1387-4CA6-816F-3879F97B5CBC}" type="slidenum">
              <a:rPr lang="en-US" b="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00800"/>
            <a:ext cx="457200" cy="274320"/>
          </a:xfrm>
          <a:prstGeom prst="rect">
            <a:avLst/>
          </a:prstGeom>
        </p:spPr>
        <p:txBody>
          <a:bodyPr/>
          <a:lstStyle>
            <a:lvl1pPr>
              <a:defRPr sz="1000">
                <a:solidFill>
                  <a:schemeClr val="accent6"/>
                </a:solidFill>
                <a:latin typeface="Calibri" panose="020F0502020204030204"/>
                <a:ea typeface="Calibri" panose="020F0502020204030204"/>
                <a:cs typeface="Calibri" panose="020F0502020204030204"/>
              </a:defRPr>
            </a:lvl1pPr>
          </a:lstStyle>
          <a:p>
            <a:pPr algn="l"/>
            <a:fld id="{F7021451-1387-4CA6-816F-3879F97B5CBC}" type="slidenum">
              <a:rPr lang="en-US" b="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2.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4.xml"/><Relationship Id="rId2" Type="http://schemas.openxmlformats.org/officeDocument/2006/relationships/image" Target="../media/image5.png"/><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4.xml"/><Relationship Id="rId2" Type="http://schemas.openxmlformats.org/officeDocument/2006/relationships/image" Target="../media/image7.png"/><Relationship Id="rId1" Type="http://schemas.openxmlformats.org/officeDocument/2006/relationships/image" Target="../media/image6.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4.xml"/><Relationship Id="rId2" Type="http://schemas.openxmlformats.org/officeDocument/2006/relationships/image" Target="../media/image9.png"/><Relationship Id="rId1" Type="http://schemas.openxmlformats.org/officeDocument/2006/relationships/image" Target="../media/image8.pn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4.xml"/><Relationship Id="rId3" Type="http://schemas.openxmlformats.org/officeDocument/2006/relationships/image" Target="../media/image10.png"/><Relationship Id="rId2" Type="http://schemas.openxmlformats.org/officeDocument/2006/relationships/chart" Target="../charts/chart2.xml"/><Relationship Id="rId1" Type="http://schemas.openxmlformats.org/officeDocument/2006/relationships/chart" Target="../charts/chart1.xml"/></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4.xml"/><Relationship Id="rId2" Type="http://schemas.openxmlformats.org/officeDocument/2006/relationships/image" Target="../media/image12.png"/><Relationship Id="rId1"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ome kicker"/>
          <p:cNvSpPr txBox="1"/>
          <p:nvPr/>
        </p:nvSpPr>
        <p:spPr>
          <a:xfrm>
            <a:off x="731520" y="1051560"/>
            <a:ext cx="10515600" cy="365760"/>
          </a:xfrm>
          <a:prstGeom prst="rect">
            <a:avLst/>
          </a:prstGeom>
          <a:noFill/>
        </p:spPr>
        <p:txBody>
          <a:bodyPr wrap="square" lIns="0" tIns="0" rIns="0" bIns="0" rtlCol="0" anchor="ctr"/>
          <a:lstStyle/>
          <a:p>
            <a:pPr marL="0" indent="0">
              <a:buNone/>
            </a:pPr>
            <a:r>
              <a:rPr lang="en-US" sz="1300" b="1" kern="0" spc="200" dirty="0">
                <a:solidFill>
                  <a:schemeClr val="accent5"/>
                </a:solidFill>
              </a:rPr>
              <a:t>QIYAS HACK · DATA CLEANING, INTEGRATION &amp; FORECASTING</a:t>
            </a:r>
            <a:endParaRPr lang="en-US" sz="1300" dirty="0"/>
          </a:p>
        </p:txBody>
      </p:sp>
      <p:sp>
        <p:nvSpPr>
          <p:cNvPr id="3" name="Home title"/>
          <p:cNvSpPr txBox="1"/>
          <p:nvPr/>
        </p:nvSpPr>
        <p:spPr>
          <a:xfrm>
            <a:off x="731520" y="1508760"/>
            <a:ext cx="10515600" cy="1463040"/>
          </a:xfrm>
          <a:prstGeom prst="rect">
            <a:avLst/>
          </a:prstGeom>
          <a:noFill/>
        </p:spPr>
        <p:txBody>
          <a:bodyPr wrap="square" lIns="0" tIns="0" rIns="0" bIns="0" rtlCol="0" anchor="t"/>
          <a:lstStyle/>
          <a:p>
            <a:pPr marL="0" indent="0">
              <a:buNone/>
            </a:pPr>
            <a:r>
              <a:rPr lang="en-US" sz="4400" b="1" dirty="0">
                <a:solidFill>
                  <a:schemeClr val="bg1"/>
                </a:solidFill>
                <a:latin typeface="Arial" panose="020B0604020202020204" pitchFamily="34" charset="0"/>
                <a:ea typeface="Arial" panose="020B0604020202020204" pitchFamily="34" charset="-122"/>
                <a:cs typeface="Arial" panose="020B0604020202020204" pitchFamily="34" charset="-120"/>
              </a:rPr>
              <a:t>Forecasting hourly ride demand across Addis Ababa</a:t>
            </a:r>
            <a:endParaRPr lang="en-US" sz="4400" dirty="0"/>
          </a:p>
        </p:txBody>
      </p:sp>
      <p:sp>
        <p:nvSpPr>
          <p:cNvPr id="4" name="Home subtitle"/>
          <p:cNvSpPr txBox="1"/>
          <p:nvPr/>
        </p:nvSpPr>
        <p:spPr>
          <a:xfrm>
            <a:off x="731520" y="3017520"/>
            <a:ext cx="10515600" cy="457200"/>
          </a:xfrm>
          <a:prstGeom prst="rect">
            <a:avLst/>
          </a:prstGeom>
          <a:noFill/>
        </p:spPr>
        <p:txBody>
          <a:bodyPr wrap="square" lIns="0" tIns="0" rIns="0" bIns="0" rtlCol="0" anchor="ctr"/>
          <a:lstStyle/>
          <a:p>
            <a:pPr marL="0" indent="0">
              <a:buNone/>
            </a:pPr>
            <a:r>
              <a:rPr lang="en-US" sz="1800" dirty="0">
                <a:solidFill>
                  <a:schemeClr val="accent6"/>
                </a:solidFill>
              </a:rPr>
              <a:t>12 zones · every hour · 1–14 November 2025 · tuned LightGBM, about 6 trips off per zone-hour</a:t>
            </a:r>
            <a:endParaRPr lang="en-US" sz="1800" dirty="0"/>
          </a:p>
        </p:txBody>
      </p:sp>
      <p:sp>
        <p:nvSpPr>
          <p:cNvPr id="5" name="Team label"/>
          <p:cNvSpPr txBox="1"/>
          <p:nvPr/>
        </p:nvSpPr>
        <p:spPr>
          <a:xfrm>
            <a:off x="731520" y="4160520"/>
            <a:ext cx="3657600" cy="320040"/>
          </a:xfrm>
          <a:prstGeom prst="rect">
            <a:avLst/>
          </a:prstGeom>
          <a:noFill/>
        </p:spPr>
        <p:txBody>
          <a:bodyPr wrap="square" lIns="0" tIns="0" rIns="0" bIns="0" rtlCol="0" anchor="ctr"/>
          <a:lstStyle/>
          <a:p>
            <a:pPr marL="0" indent="0">
              <a:buNone/>
            </a:pPr>
            <a:r>
              <a:rPr lang="en-US" sz="1200" b="1" kern="0" spc="200" dirty="0">
                <a:solidFill>
                  <a:schemeClr val="accent5"/>
                </a:solidFill>
              </a:rPr>
              <a:t>OUR TEAM</a:t>
            </a:r>
            <a:endParaRPr lang="en-US" sz="1200" dirty="0"/>
          </a:p>
        </p:txBody>
      </p:sp>
      <p:sp>
        <p:nvSpPr>
          <p:cNvPr id="6" name="Team card Niyat Debesay"/>
          <p:cNvSpPr/>
          <p:nvPr/>
        </p:nvSpPr>
        <p:spPr>
          <a:xfrm>
            <a:off x="731520" y="4572000"/>
            <a:ext cx="2514600" cy="914400"/>
          </a:xfrm>
          <a:prstGeom prst="roundRect">
            <a:avLst>
              <a:gd name="adj" fmla="val 8000"/>
            </a:avLst>
          </a:prstGeom>
          <a:solidFill>
            <a:srgbClr val="1F3A63"/>
          </a:solidFill>
          <a:ln w="9525">
            <a:solidFill>
              <a:srgbClr val="2D4B78"/>
            </a:solidFill>
            <a:prstDash val="solid"/>
          </a:ln>
        </p:spPr>
      </p:sp>
      <p:sp>
        <p:nvSpPr>
          <p:cNvPr id="7" name="Team avatar Niyat Debesay"/>
          <p:cNvSpPr/>
          <p:nvPr/>
        </p:nvSpPr>
        <p:spPr>
          <a:xfrm>
            <a:off x="896112" y="4754880"/>
            <a:ext cx="548640" cy="548640"/>
          </a:xfrm>
          <a:prstGeom prst="ellipse">
            <a:avLst/>
          </a:prstGeom>
          <a:solidFill>
            <a:schemeClr val="accent5"/>
          </a:solidFill>
        </p:spPr>
      </p:sp>
      <p:sp>
        <p:nvSpPr>
          <p:cNvPr id="8" name="Team initials Niyat Debesay"/>
          <p:cNvSpPr txBox="1"/>
          <p:nvPr/>
        </p:nvSpPr>
        <p:spPr>
          <a:xfrm>
            <a:off x="896112" y="4754880"/>
            <a:ext cx="548640" cy="548640"/>
          </a:xfrm>
          <a:prstGeom prst="rect">
            <a:avLst/>
          </a:prstGeom>
          <a:noFill/>
        </p:spPr>
        <p:txBody>
          <a:bodyPr wrap="square" lIns="0" tIns="0" rIns="0" bIns="0" rtlCol="0" anchor="ctr"/>
          <a:lstStyle/>
          <a:p>
            <a:pPr marL="0" indent="0" algn="ctr">
              <a:buNone/>
            </a:pPr>
            <a:r>
              <a:rPr lang="en-US" sz="1600" b="1" dirty="0">
                <a:solidFill>
                  <a:schemeClr val="tx2"/>
                </a:solidFill>
              </a:rPr>
              <a:t>ND</a:t>
            </a:r>
            <a:endParaRPr lang="en-US" sz="1600" dirty="0"/>
          </a:p>
        </p:txBody>
      </p:sp>
      <p:sp>
        <p:nvSpPr>
          <p:cNvPr id="9" name="Team name Niyat Debesay"/>
          <p:cNvSpPr txBox="1"/>
          <p:nvPr/>
        </p:nvSpPr>
        <p:spPr>
          <a:xfrm>
            <a:off x="1554480" y="4572000"/>
            <a:ext cx="1645920" cy="914400"/>
          </a:xfrm>
          <a:prstGeom prst="rect">
            <a:avLst/>
          </a:prstGeom>
          <a:noFill/>
        </p:spPr>
        <p:txBody>
          <a:bodyPr wrap="square" lIns="0" tIns="0" rIns="0" bIns="0" rtlCol="0" anchor="ctr"/>
          <a:lstStyle/>
          <a:p>
            <a:pPr marL="0" indent="0">
              <a:buNone/>
            </a:pPr>
            <a:r>
              <a:rPr lang="en-US" sz="1400" b="1" dirty="0">
                <a:solidFill>
                  <a:schemeClr val="bg1"/>
                </a:solidFill>
              </a:rPr>
              <a:t>Niyat Debesay</a:t>
            </a:r>
            <a:endParaRPr lang="en-US" sz="1400" dirty="0"/>
          </a:p>
        </p:txBody>
      </p:sp>
      <p:sp>
        <p:nvSpPr>
          <p:cNvPr id="10" name="Team card Henok Solomon"/>
          <p:cNvSpPr/>
          <p:nvPr/>
        </p:nvSpPr>
        <p:spPr>
          <a:xfrm>
            <a:off x="3429000" y="4572000"/>
            <a:ext cx="2514600" cy="914400"/>
          </a:xfrm>
          <a:prstGeom prst="roundRect">
            <a:avLst>
              <a:gd name="adj" fmla="val 8000"/>
            </a:avLst>
          </a:prstGeom>
          <a:solidFill>
            <a:srgbClr val="1F3A63"/>
          </a:solidFill>
          <a:ln w="9525">
            <a:solidFill>
              <a:srgbClr val="2D4B78"/>
            </a:solidFill>
            <a:prstDash val="solid"/>
          </a:ln>
        </p:spPr>
      </p:sp>
      <p:sp>
        <p:nvSpPr>
          <p:cNvPr id="11" name="Team avatar Henok Solomon"/>
          <p:cNvSpPr/>
          <p:nvPr/>
        </p:nvSpPr>
        <p:spPr>
          <a:xfrm>
            <a:off x="3593592" y="4754880"/>
            <a:ext cx="548640" cy="548640"/>
          </a:xfrm>
          <a:prstGeom prst="ellipse">
            <a:avLst/>
          </a:prstGeom>
          <a:solidFill>
            <a:schemeClr val="accent5"/>
          </a:solidFill>
        </p:spPr>
      </p:sp>
      <p:sp>
        <p:nvSpPr>
          <p:cNvPr id="12" name="Team initials Henok Solomon"/>
          <p:cNvSpPr txBox="1"/>
          <p:nvPr/>
        </p:nvSpPr>
        <p:spPr>
          <a:xfrm>
            <a:off x="3593592" y="4754880"/>
            <a:ext cx="548640" cy="548640"/>
          </a:xfrm>
          <a:prstGeom prst="rect">
            <a:avLst/>
          </a:prstGeom>
          <a:noFill/>
        </p:spPr>
        <p:txBody>
          <a:bodyPr wrap="square" lIns="0" tIns="0" rIns="0" bIns="0" rtlCol="0" anchor="ctr"/>
          <a:lstStyle/>
          <a:p>
            <a:pPr marL="0" indent="0" algn="ctr">
              <a:buNone/>
            </a:pPr>
            <a:r>
              <a:rPr lang="en-US" sz="1600" b="1" dirty="0">
                <a:solidFill>
                  <a:schemeClr val="tx2"/>
                </a:solidFill>
              </a:rPr>
              <a:t>HS</a:t>
            </a:r>
            <a:endParaRPr lang="en-US" sz="1600" dirty="0"/>
          </a:p>
        </p:txBody>
      </p:sp>
      <p:sp>
        <p:nvSpPr>
          <p:cNvPr id="13" name="Team name Henok Solomon"/>
          <p:cNvSpPr txBox="1"/>
          <p:nvPr/>
        </p:nvSpPr>
        <p:spPr>
          <a:xfrm>
            <a:off x="4251960" y="4572000"/>
            <a:ext cx="1645920" cy="914400"/>
          </a:xfrm>
          <a:prstGeom prst="rect">
            <a:avLst/>
          </a:prstGeom>
          <a:noFill/>
        </p:spPr>
        <p:txBody>
          <a:bodyPr wrap="square" lIns="0" tIns="0" rIns="0" bIns="0" rtlCol="0" anchor="ctr"/>
          <a:lstStyle/>
          <a:p>
            <a:pPr marL="0" indent="0">
              <a:buNone/>
            </a:pPr>
            <a:r>
              <a:rPr lang="en-US" sz="1400" b="1" dirty="0">
                <a:solidFill>
                  <a:schemeClr val="bg1"/>
                </a:solidFill>
              </a:rPr>
              <a:t>Henok Solomon</a:t>
            </a:r>
            <a:endParaRPr lang="en-US" sz="1400" dirty="0"/>
          </a:p>
        </p:txBody>
      </p:sp>
      <p:sp>
        <p:nvSpPr>
          <p:cNvPr id="14" name="Team card Zakira Abdurahman"/>
          <p:cNvSpPr/>
          <p:nvPr/>
        </p:nvSpPr>
        <p:spPr>
          <a:xfrm>
            <a:off x="6126480" y="4572000"/>
            <a:ext cx="2514600" cy="914400"/>
          </a:xfrm>
          <a:prstGeom prst="roundRect">
            <a:avLst>
              <a:gd name="adj" fmla="val 8000"/>
            </a:avLst>
          </a:prstGeom>
          <a:solidFill>
            <a:srgbClr val="1F3A63"/>
          </a:solidFill>
          <a:ln w="9525">
            <a:solidFill>
              <a:srgbClr val="2D4B78"/>
            </a:solidFill>
            <a:prstDash val="solid"/>
          </a:ln>
        </p:spPr>
      </p:sp>
      <p:sp>
        <p:nvSpPr>
          <p:cNvPr id="15" name="Team avatar Zakira Abdurahman"/>
          <p:cNvSpPr/>
          <p:nvPr/>
        </p:nvSpPr>
        <p:spPr>
          <a:xfrm>
            <a:off x="6291072" y="4754880"/>
            <a:ext cx="548640" cy="548640"/>
          </a:xfrm>
          <a:prstGeom prst="ellipse">
            <a:avLst/>
          </a:prstGeom>
          <a:solidFill>
            <a:schemeClr val="accent5"/>
          </a:solidFill>
        </p:spPr>
      </p:sp>
      <p:sp>
        <p:nvSpPr>
          <p:cNvPr id="16" name="Team initials Zakira Abdurahman"/>
          <p:cNvSpPr txBox="1"/>
          <p:nvPr/>
        </p:nvSpPr>
        <p:spPr>
          <a:xfrm>
            <a:off x="6291072" y="4754880"/>
            <a:ext cx="548640" cy="548640"/>
          </a:xfrm>
          <a:prstGeom prst="rect">
            <a:avLst/>
          </a:prstGeom>
          <a:noFill/>
        </p:spPr>
        <p:txBody>
          <a:bodyPr wrap="square" lIns="0" tIns="0" rIns="0" bIns="0" rtlCol="0" anchor="ctr"/>
          <a:lstStyle/>
          <a:p>
            <a:pPr marL="0" indent="0" algn="ctr">
              <a:buNone/>
            </a:pPr>
            <a:r>
              <a:rPr lang="en-US" sz="1600" b="1" dirty="0">
                <a:solidFill>
                  <a:schemeClr val="tx2"/>
                </a:solidFill>
              </a:rPr>
              <a:t>ZA</a:t>
            </a:r>
            <a:endParaRPr lang="en-US" sz="1600" dirty="0"/>
          </a:p>
        </p:txBody>
      </p:sp>
      <p:sp>
        <p:nvSpPr>
          <p:cNvPr id="17" name="Team name Zakira Abdurahman"/>
          <p:cNvSpPr txBox="1"/>
          <p:nvPr/>
        </p:nvSpPr>
        <p:spPr>
          <a:xfrm>
            <a:off x="6949440" y="4572000"/>
            <a:ext cx="1645920" cy="914400"/>
          </a:xfrm>
          <a:prstGeom prst="rect">
            <a:avLst/>
          </a:prstGeom>
          <a:noFill/>
        </p:spPr>
        <p:txBody>
          <a:bodyPr wrap="square" lIns="0" tIns="0" rIns="0" bIns="0" rtlCol="0" anchor="ctr"/>
          <a:lstStyle/>
          <a:p>
            <a:pPr marL="0" indent="0">
              <a:buNone/>
            </a:pPr>
            <a:r>
              <a:rPr lang="en-US" sz="1400" b="1" dirty="0">
                <a:solidFill>
                  <a:schemeClr val="bg1"/>
                </a:solidFill>
              </a:rPr>
              <a:t>Zakira Abdurahman</a:t>
            </a:r>
            <a:endParaRPr lang="en-US" sz="1400" dirty="0"/>
          </a:p>
        </p:txBody>
      </p:sp>
      <p:sp>
        <p:nvSpPr>
          <p:cNvPr id="18" name="Team card Amina Aman"/>
          <p:cNvSpPr/>
          <p:nvPr/>
        </p:nvSpPr>
        <p:spPr>
          <a:xfrm>
            <a:off x="8823960" y="4572000"/>
            <a:ext cx="2514600" cy="914400"/>
          </a:xfrm>
          <a:prstGeom prst="roundRect">
            <a:avLst>
              <a:gd name="adj" fmla="val 8000"/>
            </a:avLst>
          </a:prstGeom>
          <a:solidFill>
            <a:srgbClr val="1F3A63"/>
          </a:solidFill>
          <a:ln w="9525">
            <a:solidFill>
              <a:srgbClr val="2D4B78"/>
            </a:solidFill>
            <a:prstDash val="solid"/>
          </a:ln>
        </p:spPr>
      </p:sp>
      <p:sp>
        <p:nvSpPr>
          <p:cNvPr id="19" name="Team avatar Amina Aman"/>
          <p:cNvSpPr/>
          <p:nvPr/>
        </p:nvSpPr>
        <p:spPr>
          <a:xfrm>
            <a:off x="8988552" y="4754880"/>
            <a:ext cx="548640" cy="548640"/>
          </a:xfrm>
          <a:prstGeom prst="ellipse">
            <a:avLst/>
          </a:prstGeom>
          <a:solidFill>
            <a:schemeClr val="accent5"/>
          </a:solidFill>
        </p:spPr>
      </p:sp>
      <p:sp>
        <p:nvSpPr>
          <p:cNvPr id="20" name="Team initials Amina Aman"/>
          <p:cNvSpPr txBox="1"/>
          <p:nvPr/>
        </p:nvSpPr>
        <p:spPr>
          <a:xfrm>
            <a:off x="8988552" y="4754880"/>
            <a:ext cx="548640" cy="548640"/>
          </a:xfrm>
          <a:prstGeom prst="rect">
            <a:avLst/>
          </a:prstGeom>
          <a:noFill/>
        </p:spPr>
        <p:txBody>
          <a:bodyPr wrap="square" lIns="0" tIns="0" rIns="0" bIns="0" rtlCol="0" anchor="ctr"/>
          <a:lstStyle/>
          <a:p>
            <a:pPr marL="0" indent="0" algn="ctr">
              <a:buNone/>
            </a:pPr>
            <a:r>
              <a:rPr lang="en-US" sz="1600" b="1" dirty="0">
                <a:solidFill>
                  <a:schemeClr val="tx2"/>
                </a:solidFill>
              </a:rPr>
              <a:t>AA</a:t>
            </a:r>
            <a:endParaRPr lang="en-US" sz="1600" dirty="0"/>
          </a:p>
        </p:txBody>
      </p:sp>
      <p:sp>
        <p:nvSpPr>
          <p:cNvPr id="21" name="Team name Amina Aman"/>
          <p:cNvSpPr txBox="1"/>
          <p:nvPr/>
        </p:nvSpPr>
        <p:spPr>
          <a:xfrm>
            <a:off x="9646920" y="4572000"/>
            <a:ext cx="1645920" cy="914400"/>
          </a:xfrm>
          <a:prstGeom prst="rect">
            <a:avLst/>
          </a:prstGeom>
          <a:noFill/>
        </p:spPr>
        <p:txBody>
          <a:bodyPr wrap="square" lIns="0" tIns="0" rIns="0" bIns="0" rtlCol="0" anchor="ctr"/>
          <a:lstStyle/>
          <a:p>
            <a:pPr marL="0" indent="0">
              <a:buNone/>
            </a:pPr>
            <a:r>
              <a:rPr lang="en-US" sz="1400" b="1" dirty="0">
                <a:solidFill>
                  <a:schemeClr val="bg1"/>
                </a:solidFill>
              </a:rPr>
              <a:t>Amina Aman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body" idx="100" hasCustomPrompt="1"/>
          </p:nvPr>
        </p:nvSpPr>
        <p:spPr>
          <a:xfrm>
            <a:off x="548640" y="411480"/>
            <a:ext cx="10972800" cy="365760"/>
          </a:xfrm>
          <a:prstGeom prst="rect">
            <a:avLst/>
          </a:prstGeom>
          <a:noFill/>
        </p:spPr>
        <p:txBody>
          <a:bodyPr wrap="square" lIns="0" tIns="0" rIns="0" bIns="0" rtlCol="0"/>
          <a:lstStyle/>
          <a:p>
            <a:pPr marL="0" indent="0">
              <a:buNone/>
            </a:pPr>
            <a:r>
              <a:rPr lang="en-US" sz="1300" b="1" kern="0" spc="200" dirty="0">
                <a:solidFill>
                  <a:schemeClr val="accent5"/>
                </a:solidFill>
              </a:rPr>
              <a:t>1 · THE PROBLEM AND THE THREE TABLES</a:t>
            </a:r>
            <a:endParaRPr lang="en-US" sz="1300" dirty="0"/>
          </a:p>
        </p:txBody>
      </p:sp>
      <p:sp>
        <p:nvSpPr>
          <p:cNvPr id="3" name="Text 0"/>
          <p:cNvSpPr/>
          <p:nvPr>
            <p:ph type="title" idx="101" hasCustomPrompt="1"/>
          </p:nvPr>
        </p:nvSpPr>
        <p:spPr>
          <a:xfrm>
            <a:off x="548640" y="777240"/>
            <a:ext cx="11064240" cy="914400"/>
          </a:xfrm>
          <a:prstGeom prst="rect">
            <a:avLst/>
          </a:prstGeom>
          <a:noFill/>
        </p:spPr>
        <p:txBody>
          <a:bodyPr wrap="square" lIns="0" tIns="0" rIns="0" bIns="0" rtlCol="0" anchor="t"/>
          <a:lstStyle/>
          <a:p>
            <a:pPr marL="0" indent="0" algn="l">
              <a:buNone/>
            </a:pPr>
            <a:r>
              <a:rPr lang="en-US" sz="3000" b="1" dirty="0">
                <a:solidFill>
                  <a:schemeClr val="bg1"/>
                </a:solidFill>
              </a:rPr>
              <a:t>How many rides will each Addis zone need, every hour?</a:t>
            </a:r>
            <a:endParaRPr lang="en-US" sz="3000" dirty="0"/>
          </a:p>
        </p:txBody>
      </p:sp>
      <p:sp>
        <p:nvSpPr>
          <p:cNvPr id="4" name="Problem text"/>
          <p:cNvSpPr txBox="1"/>
          <p:nvPr/>
        </p:nvSpPr>
        <p:spPr>
          <a:xfrm>
            <a:off x="548640" y="1965960"/>
            <a:ext cx="4206240" cy="2743200"/>
          </a:xfrm>
          <a:prstGeom prst="rect">
            <a:avLst/>
          </a:prstGeom>
          <a:noFill/>
        </p:spPr>
        <p:txBody>
          <a:bodyPr wrap="square" lIns="0" tIns="0" rIns="0" bIns="0" rtlCol="0" anchor="t"/>
          <a:lstStyle/>
          <a:p>
            <a:pPr marL="0" indent="0">
              <a:spcAft>
                <a:spcPts val="400"/>
              </a:spcAft>
              <a:buNone/>
            </a:pPr>
            <a:r>
              <a:rPr lang="en-US" sz="1600" dirty="0">
                <a:solidFill>
                  <a:schemeClr val="bg1"/>
                </a:solidFill>
              </a:rPr>
              <a:t>Drivers have to be in place before riders open the app. We forecast </a:t>
            </a:r>
            <a:r>
              <a:rPr lang="en-US" sz="1600" b="1" dirty="0">
                <a:solidFill>
                  <a:schemeClr val="accent5"/>
                </a:solidFill>
              </a:rPr>
              <a:t>trips per zone per hour</a:t>
            </a:r>
            <a:r>
              <a:rPr lang="en-US" sz="1600" dirty="0">
                <a:solidFill>
                  <a:schemeClr val="bg1"/>
                </a:solidFill>
              </a:rPr>
              <a:t> for 12 zones over the 14 days after our history ends: 1–14 Nov 2025, a test file of 4,032 zone-hours with no target.</a:t>
            </a:r>
            <a:endParaRPr lang="en-US" sz="1600" dirty="0"/>
          </a:p>
          <a:p>
            <a:pPr marL="0" indent="0">
              <a:spcAft>
                <a:spcPts val="400"/>
              </a:spcAft>
              <a:buNone/>
            </a:pPr>
            <a:r>
              <a:rPr lang="en-US" sz="800" dirty="0">
                <a:solidFill>
                  <a:schemeClr val="bg1"/>
                </a:solidFill>
              </a:rPr>
              <a:t> </a:t>
            </a:r>
            <a:endParaRPr lang="en-US" sz="1600" dirty="0"/>
          </a:p>
          <a:p>
            <a:pPr marL="0" indent="0">
              <a:spcAft>
                <a:spcPts val="400"/>
              </a:spcAft>
              <a:buNone/>
            </a:pPr>
            <a:r>
              <a:rPr lang="en-US" sz="1600" dirty="0">
                <a:solidFill>
                  <a:schemeClr val="bg1"/>
                </a:solidFill>
              </a:rPr>
              <a:t>The 10-month history (Jan–Oct 2025) is split across three tables that disagree on names, formats and even the clock.</a:t>
            </a:r>
            <a:endParaRPr lang="en-US" sz="1600" dirty="0"/>
          </a:p>
        </p:txBody>
      </p:sp>
      <p:sp>
        <p:nvSpPr>
          <p:cNvPr id="5" name="Stat zones"/>
          <p:cNvSpPr txBox="1"/>
          <p:nvPr/>
        </p:nvSpPr>
        <p:spPr>
          <a:xfrm>
            <a:off x="548640" y="4892040"/>
            <a:ext cx="1417320" cy="685800"/>
          </a:xfrm>
          <a:prstGeom prst="rect">
            <a:avLst/>
          </a:prstGeom>
          <a:noFill/>
        </p:spPr>
        <p:txBody>
          <a:bodyPr wrap="square" lIns="0" tIns="0" rIns="0" bIns="0" rtlCol="0" anchor="ctr"/>
          <a:lstStyle/>
          <a:p>
            <a:pPr marL="0" indent="0">
              <a:buNone/>
            </a:pPr>
            <a:r>
              <a:rPr lang="en-US" sz="3200" b="1" dirty="0">
                <a:solidFill>
                  <a:schemeClr val="accent5"/>
                </a:solidFill>
                <a:latin typeface="Arial" panose="020B0604020202020204" pitchFamily="34" charset="0"/>
                <a:ea typeface="Arial" panose="020B0604020202020204" pitchFamily="34" charset="-122"/>
                <a:cs typeface="Arial" panose="020B0604020202020204" pitchFamily="34" charset="-120"/>
              </a:rPr>
              <a:t>12</a:t>
            </a:r>
            <a:endParaRPr lang="en-US" sz="3200" dirty="0"/>
          </a:p>
        </p:txBody>
      </p:sp>
      <p:sp>
        <p:nvSpPr>
          <p:cNvPr id="6" name="Stat label zones"/>
          <p:cNvSpPr txBox="1"/>
          <p:nvPr/>
        </p:nvSpPr>
        <p:spPr>
          <a:xfrm>
            <a:off x="548640" y="5577840"/>
            <a:ext cx="1371600" cy="457200"/>
          </a:xfrm>
          <a:prstGeom prst="rect">
            <a:avLst/>
          </a:prstGeom>
          <a:noFill/>
        </p:spPr>
        <p:txBody>
          <a:bodyPr wrap="square" lIns="0" tIns="0" rIns="0" bIns="0" rtlCol="0" anchor="t"/>
          <a:lstStyle/>
          <a:p>
            <a:pPr marL="0" indent="0">
              <a:buNone/>
            </a:pPr>
            <a:r>
              <a:rPr lang="en-US" sz="1200" dirty="0">
                <a:solidFill>
                  <a:schemeClr val="accent6"/>
                </a:solidFill>
              </a:rPr>
              <a:t>zones</a:t>
            </a:r>
            <a:endParaRPr lang="en-US" sz="1200" dirty="0"/>
          </a:p>
        </p:txBody>
      </p:sp>
      <p:sp>
        <p:nvSpPr>
          <p:cNvPr id="7" name="Stat zone-hours to forecast"/>
          <p:cNvSpPr txBox="1"/>
          <p:nvPr/>
        </p:nvSpPr>
        <p:spPr>
          <a:xfrm>
            <a:off x="2011680" y="4892040"/>
            <a:ext cx="1417320" cy="685800"/>
          </a:xfrm>
          <a:prstGeom prst="rect">
            <a:avLst/>
          </a:prstGeom>
          <a:noFill/>
        </p:spPr>
        <p:txBody>
          <a:bodyPr wrap="square" lIns="0" tIns="0" rIns="0" bIns="0" rtlCol="0" anchor="ctr"/>
          <a:lstStyle/>
          <a:p>
            <a:pPr marL="0" indent="0">
              <a:buNone/>
            </a:pPr>
            <a:r>
              <a:rPr lang="en-US" sz="3200" b="1" dirty="0">
                <a:solidFill>
                  <a:schemeClr val="accent5"/>
                </a:solidFill>
                <a:latin typeface="Arial" panose="020B0604020202020204" pitchFamily="34" charset="0"/>
                <a:ea typeface="Arial" panose="020B0604020202020204" pitchFamily="34" charset="-122"/>
                <a:cs typeface="Arial" panose="020B0604020202020204" pitchFamily="34" charset="-120"/>
              </a:rPr>
              <a:t>4,032</a:t>
            </a:r>
            <a:endParaRPr lang="en-US" sz="3200" dirty="0"/>
          </a:p>
        </p:txBody>
      </p:sp>
      <p:sp>
        <p:nvSpPr>
          <p:cNvPr id="8" name="Stat label zone-hours to forecast"/>
          <p:cNvSpPr txBox="1"/>
          <p:nvPr/>
        </p:nvSpPr>
        <p:spPr>
          <a:xfrm>
            <a:off x="2011680" y="5577840"/>
            <a:ext cx="1371600" cy="457200"/>
          </a:xfrm>
          <a:prstGeom prst="rect">
            <a:avLst/>
          </a:prstGeom>
          <a:noFill/>
        </p:spPr>
        <p:txBody>
          <a:bodyPr wrap="square" lIns="0" tIns="0" rIns="0" bIns="0" rtlCol="0" anchor="t"/>
          <a:lstStyle/>
          <a:p>
            <a:pPr marL="0" indent="0">
              <a:buNone/>
            </a:pPr>
            <a:r>
              <a:rPr lang="en-US" sz="1200" dirty="0">
                <a:solidFill>
                  <a:schemeClr val="accent6"/>
                </a:solidFill>
              </a:rPr>
              <a:t>zone-hours to forecast</a:t>
            </a:r>
            <a:endParaRPr lang="en-US" sz="1200" dirty="0"/>
          </a:p>
        </p:txBody>
      </p:sp>
      <p:sp>
        <p:nvSpPr>
          <p:cNvPr id="9" name="Stat growth Jan → Oct"/>
          <p:cNvSpPr txBox="1"/>
          <p:nvPr/>
        </p:nvSpPr>
        <p:spPr>
          <a:xfrm>
            <a:off x="3474720" y="4892040"/>
            <a:ext cx="1417320" cy="685800"/>
          </a:xfrm>
          <a:prstGeom prst="rect">
            <a:avLst/>
          </a:prstGeom>
          <a:noFill/>
        </p:spPr>
        <p:txBody>
          <a:bodyPr wrap="square" lIns="0" tIns="0" rIns="0" bIns="0" rtlCol="0" anchor="ctr"/>
          <a:lstStyle/>
          <a:p>
            <a:pPr marL="0" indent="0">
              <a:buNone/>
            </a:pPr>
            <a:r>
              <a:rPr lang="en-US" sz="3200" b="1" dirty="0">
                <a:solidFill>
                  <a:schemeClr val="accent5"/>
                </a:solidFill>
                <a:latin typeface="Arial" panose="020B0604020202020204" pitchFamily="34" charset="0"/>
                <a:ea typeface="Arial" panose="020B0604020202020204" pitchFamily="34" charset="-122"/>
                <a:cs typeface="Arial" panose="020B0604020202020204" pitchFamily="34" charset="-120"/>
              </a:rPr>
              <a:t>+41%</a:t>
            </a:r>
            <a:endParaRPr lang="en-US" sz="3200" dirty="0"/>
          </a:p>
        </p:txBody>
      </p:sp>
      <p:sp>
        <p:nvSpPr>
          <p:cNvPr id="10" name="Stat label growth Jan → Oct"/>
          <p:cNvSpPr txBox="1"/>
          <p:nvPr/>
        </p:nvSpPr>
        <p:spPr>
          <a:xfrm>
            <a:off x="3474720" y="5577840"/>
            <a:ext cx="1371600" cy="457200"/>
          </a:xfrm>
          <a:prstGeom prst="rect">
            <a:avLst/>
          </a:prstGeom>
          <a:noFill/>
        </p:spPr>
        <p:txBody>
          <a:bodyPr wrap="square" lIns="0" tIns="0" rIns="0" bIns="0" rtlCol="0" anchor="t"/>
          <a:lstStyle/>
          <a:p>
            <a:pPr marL="0" indent="0">
              <a:buNone/>
            </a:pPr>
            <a:r>
              <a:rPr lang="en-US" sz="1200" dirty="0">
                <a:solidFill>
                  <a:schemeClr val="accent6"/>
                </a:solidFill>
              </a:rPr>
              <a:t>growth Jan → Oct</a:t>
            </a:r>
            <a:endParaRPr lang="en-US" sz="1200" dirty="0"/>
          </a:p>
        </p:txBody>
      </p:sp>
      <p:sp>
        <p:nvSpPr>
          <p:cNvPr id="11" name="Table card ride_demand_train"/>
          <p:cNvSpPr/>
          <p:nvPr/>
        </p:nvSpPr>
        <p:spPr>
          <a:xfrm>
            <a:off x="5257800" y="1920240"/>
            <a:ext cx="6400800" cy="1280160"/>
          </a:xfrm>
          <a:prstGeom prst="roundRect">
            <a:avLst>
              <a:gd name="adj" fmla="val 5714"/>
            </a:avLst>
          </a:prstGeom>
          <a:solidFill>
            <a:srgbClr val="1F3A63"/>
          </a:solidFill>
          <a:ln w="9525">
            <a:solidFill>
              <a:srgbClr val="2D4B78"/>
            </a:solidFill>
            <a:prstDash val="solid"/>
          </a:ln>
        </p:spPr>
      </p:sp>
      <p:sp>
        <p:nvSpPr>
          <p:cNvPr id="12" name="Icon circle ride_demand_train"/>
          <p:cNvSpPr/>
          <p:nvPr/>
        </p:nvSpPr>
        <p:spPr>
          <a:xfrm>
            <a:off x="5486400" y="2267712"/>
            <a:ext cx="585216" cy="585216"/>
          </a:xfrm>
          <a:prstGeom prst="ellipse">
            <a:avLst/>
          </a:prstGeom>
          <a:solidFill>
            <a:schemeClr val="accent5"/>
          </a:solidFill>
        </p:spPr>
      </p:sp>
      <p:pic>
        <p:nvPicPr>
          <p:cNvPr id="13" name="Icon ride_demand_train" descr="preencoded.png"/>
          <p:cNvPicPr>
            <a:picLocks noChangeAspect="1"/>
          </p:cNvPicPr>
          <p:nvPr/>
        </p:nvPicPr>
        <p:blipFill>
          <a:blip r:embed="rId1"/>
          <a:stretch>
            <a:fillRect/>
          </a:stretch>
        </p:blipFill>
        <p:spPr>
          <a:xfrm>
            <a:off x="5623560" y="2404872"/>
            <a:ext cx="310896" cy="310896"/>
          </a:xfrm>
          <a:prstGeom prst="rect">
            <a:avLst/>
          </a:prstGeom>
        </p:spPr>
      </p:pic>
      <p:sp>
        <p:nvSpPr>
          <p:cNvPr id="14" name="Table text ride_demand_train"/>
          <p:cNvSpPr txBox="1"/>
          <p:nvPr/>
        </p:nvSpPr>
        <p:spPr>
          <a:xfrm>
            <a:off x="6309360" y="2011680"/>
            <a:ext cx="5212080" cy="1097280"/>
          </a:xfrm>
          <a:prstGeom prst="rect">
            <a:avLst/>
          </a:prstGeom>
          <a:noFill/>
        </p:spPr>
        <p:txBody>
          <a:bodyPr wrap="square" lIns="0" tIns="0" rIns="0" bIns="0" rtlCol="0" anchor="ctr"/>
          <a:lstStyle/>
          <a:p>
            <a:pPr marL="0" indent="0">
              <a:spcAft>
                <a:spcPts val="200"/>
              </a:spcAft>
              <a:buNone/>
            </a:pPr>
            <a:r>
              <a:rPr lang="en-US" sz="1700" b="1" dirty="0">
                <a:solidFill>
                  <a:schemeClr val="bg1"/>
                </a:solidFill>
              </a:rPr>
              <a:t>ride_demand_train</a:t>
            </a:r>
            <a:r>
              <a:rPr lang="en-US" sz="1300" dirty="0">
                <a:solidFill>
                  <a:schemeClr val="accent6"/>
                </a:solidFill>
              </a:rPr>
              <a:t>   85,460 rows</a:t>
            </a:r>
            <a:endParaRPr lang="en-US" sz="1700" dirty="0"/>
          </a:p>
          <a:p>
            <a:pPr marL="0" indent="0">
              <a:spcAft>
                <a:spcPts val="200"/>
              </a:spcAft>
              <a:buNone/>
            </a:pPr>
            <a:r>
              <a:rPr lang="en-US" sz="1400" dirty="0">
                <a:solidFill>
                  <a:schemeClr val="bg1"/>
                </a:solidFill>
              </a:rPr>
              <a:t>One row per zone-hour: trips (our target), fare, wait time, active drivers.</a:t>
            </a:r>
            <a:endParaRPr lang="en-US" sz="1700" dirty="0"/>
          </a:p>
          <a:p>
            <a:pPr marL="0" indent="0">
              <a:spcAft>
                <a:spcPts val="200"/>
              </a:spcAft>
              <a:buNone/>
            </a:pPr>
            <a:r>
              <a:rPr lang="en-US" sz="1300" i="1" dirty="0">
                <a:solidFill>
                  <a:schemeClr val="accent5"/>
                </a:solidFill>
              </a:rPr>
              <a:t>Catch: 55 spellings of 12 zones, 3 date formats, counts inflated ×8</a:t>
            </a:r>
            <a:endParaRPr lang="en-US" sz="1700" dirty="0"/>
          </a:p>
        </p:txBody>
      </p:sp>
      <p:sp>
        <p:nvSpPr>
          <p:cNvPr id="15" name="Table card weather_hourly"/>
          <p:cNvSpPr/>
          <p:nvPr/>
        </p:nvSpPr>
        <p:spPr>
          <a:xfrm>
            <a:off x="5257800" y="3383280"/>
            <a:ext cx="6400800" cy="1280160"/>
          </a:xfrm>
          <a:prstGeom prst="roundRect">
            <a:avLst>
              <a:gd name="adj" fmla="val 5714"/>
            </a:avLst>
          </a:prstGeom>
          <a:solidFill>
            <a:srgbClr val="1F3A63"/>
          </a:solidFill>
          <a:ln w="9525">
            <a:solidFill>
              <a:srgbClr val="2D4B78"/>
            </a:solidFill>
            <a:prstDash val="solid"/>
          </a:ln>
        </p:spPr>
      </p:sp>
      <p:sp>
        <p:nvSpPr>
          <p:cNvPr id="16" name="Icon circle weather_hourly"/>
          <p:cNvSpPr/>
          <p:nvPr/>
        </p:nvSpPr>
        <p:spPr>
          <a:xfrm>
            <a:off x="5486400" y="3730752"/>
            <a:ext cx="585216" cy="585216"/>
          </a:xfrm>
          <a:prstGeom prst="ellipse">
            <a:avLst/>
          </a:prstGeom>
          <a:solidFill>
            <a:schemeClr val="accent5"/>
          </a:solidFill>
        </p:spPr>
      </p:sp>
      <p:pic>
        <p:nvPicPr>
          <p:cNvPr id="17" name="Icon weather_hourly" descr="preencoded.png"/>
          <p:cNvPicPr>
            <a:picLocks noChangeAspect="1"/>
          </p:cNvPicPr>
          <p:nvPr/>
        </p:nvPicPr>
        <p:blipFill>
          <a:blip r:embed="rId2"/>
          <a:stretch>
            <a:fillRect/>
          </a:stretch>
        </p:blipFill>
        <p:spPr>
          <a:xfrm>
            <a:off x="5623560" y="3867912"/>
            <a:ext cx="310896" cy="310896"/>
          </a:xfrm>
          <a:prstGeom prst="rect">
            <a:avLst/>
          </a:prstGeom>
        </p:spPr>
      </p:pic>
      <p:sp>
        <p:nvSpPr>
          <p:cNvPr id="18" name="Table text weather_hourly"/>
          <p:cNvSpPr txBox="1"/>
          <p:nvPr/>
        </p:nvSpPr>
        <p:spPr>
          <a:xfrm>
            <a:off x="6309360" y="3474720"/>
            <a:ext cx="5212080" cy="1097280"/>
          </a:xfrm>
          <a:prstGeom prst="rect">
            <a:avLst/>
          </a:prstGeom>
          <a:noFill/>
        </p:spPr>
        <p:txBody>
          <a:bodyPr wrap="square" lIns="0" tIns="0" rIns="0" bIns="0" rtlCol="0" anchor="ctr"/>
          <a:lstStyle/>
          <a:p>
            <a:pPr marL="0" indent="0">
              <a:spcAft>
                <a:spcPts val="200"/>
              </a:spcAft>
              <a:buNone/>
            </a:pPr>
            <a:r>
              <a:rPr lang="en-US" sz="1700" b="1" dirty="0">
                <a:solidFill>
                  <a:schemeClr val="bg1"/>
                </a:solidFill>
              </a:rPr>
              <a:t>weather_hourly</a:t>
            </a:r>
            <a:r>
              <a:rPr lang="en-US" sz="1300" dirty="0">
                <a:solidFill>
                  <a:schemeClr val="accent6"/>
                </a:solidFill>
              </a:rPr>
              <a:t>   7,538 rows</a:t>
            </a:r>
            <a:endParaRPr lang="en-US" sz="1700" dirty="0"/>
          </a:p>
          <a:p>
            <a:pPr marL="0" indent="0">
              <a:spcAft>
                <a:spcPts val="200"/>
              </a:spcAft>
              <a:buNone/>
            </a:pPr>
            <a:r>
              <a:rPr lang="en-US" sz="1400" dirty="0">
                <a:solidFill>
                  <a:schemeClr val="bg1"/>
                </a:solidFill>
              </a:rPr>
              <a:t>One city-wide station: hourly temperature, rain, humidity, wind.</a:t>
            </a:r>
            <a:endParaRPr lang="en-US" sz="1700" dirty="0"/>
          </a:p>
          <a:p>
            <a:pPr marL="0" indent="0">
              <a:spcAft>
                <a:spcPts val="200"/>
              </a:spcAft>
              <a:buNone/>
            </a:pPr>
            <a:r>
              <a:rPr lang="en-US" sz="1300" i="1" dirty="0">
                <a:solidFill>
                  <a:schemeClr val="accent5"/>
                </a:solidFill>
              </a:rPr>
              <a:t>Catch: Stored in UTC, some °F values, −9999 codes, missing hours</a:t>
            </a:r>
            <a:endParaRPr lang="en-US" sz="1700" dirty="0"/>
          </a:p>
        </p:txBody>
      </p:sp>
      <p:sp>
        <p:nvSpPr>
          <p:cNvPr id="19" name="Table card events_calendar"/>
          <p:cNvSpPr/>
          <p:nvPr/>
        </p:nvSpPr>
        <p:spPr>
          <a:xfrm>
            <a:off x="5257800" y="4846320"/>
            <a:ext cx="6400800" cy="1280160"/>
          </a:xfrm>
          <a:prstGeom prst="roundRect">
            <a:avLst>
              <a:gd name="adj" fmla="val 5714"/>
            </a:avLst>
          </a:prstGeom>
          <a:solidFill>
            <a:srgbClr val="1F3A63"/>
          </a:solidFill>
          <a:ln w="9525">
            <a:solidFill>
              <a:srgbClr val="2D4B78"/>
            </a:solidFill>
            <a:prstDash val="solid"/>
          </a:ln>
        </p:spPr>
      </p:sp>
      <p:sp>
        <p:nvSpPr>
          <p:cNvPr id="20" name="Icon circle events_calendar"/>
          <p:cNvSpPr/>
          <p:nvPr/>
        </p:nvSpPr>
        <p:spPr>
          <a:xfrm>
            <a:off x="5486400" y="5193792"/>
            <a:ext cx="585216" cy="585216"/>
          </a:xfrm>
          <a:prstGeom prst="ellipse">
            <a:avLst/>
          </a:prstGeom>
          <a:solidFill>
            <a:schemeClr val="accent5"/>
          </a:solidFill>
        </p:spPr>
      </p:sp>
      <p:pic>
        <p:nvPicPr>
          <p:cNvPr id="21" name="Icon events_calendar" descr="preencoded.png"/>
          <p:cNvPicPr>
            <a:picLocks noChangeAspect="1"/>
          </p:cNvPicPr>
          <p:nvPr/>
        </p:nvPicPr>
        <p:blipFill>
          <a:blip r:embed="rId3"/>
          <a:stretch>
            <a:fillRect/>
          </a:stretch>
        </p:blipFill>
        <p:spPr>
          <a:xfrm>
            <a:off x="5623560" y="5330952"/>
            <a:ext cx="310896" cy="310896"/>
          </a:xfrm>
          <a:prstGeom prst="rect">
            <a:avLst/>
          </a:prstGeom>
        </p:spPr>
      </p:pic>
      <p:sp>
        <p:nvSpPr>
          <p:cNvPr id="22" name="Table text events_calendar"/>
          <p:cNvSpPr txBox="1"/>
          <p:nvPr/>
        </p:nvSpPr>
        <p:spPr>
          <a:xfrm>
            <a:off x="6309360" y="4937760"/>
            <a:ext cx="5212080" cy="1097280"/>
          </a:xfrm>
          <a:prstGeom prst="rect">
            <a:avLst/>
          </a:prstGeom>
          <a:noFill/>
        </p:spPr>
        <p:txBody>
          <a:bodyPr wrap="square" lIns="0" tIns="0" rIns="0" bIns="0" rtlCol="0" anchor="ctr"/>
          <a:lstStyle/>
          <a:p>
            <a:pPr marL="0" indent="0">
              <a:spcAft>
                <a:spcPts val="200"/>
              </a:spcAft>
              <a:buNone/>
            </a:pPr>
            <a:r>
              <a:rPr lang="en-US" sz="1700" b="1" dirty="0">
                <a:solidFill>
                  <a:schemeClr val="bg1"/>
                </a:solidFill>
              </a:rPr>
              <a:t>events_calendar</a:t>
            </a:r>
            <a:r>
              <a:rPr lang="en-US" sz="1300" dirty="0">
                <a:solidFill>
                  <a:schemeClr val="accent6"/>
                </a:solidFill>
              </a:rPr>
              <a:t>   165 rows</a:t>
            </a:r>
            <a:endParaRPr lang="en-US" sz="1700" dirty="0"/>
          </a:p>
          <a:p>
            <a:pPr marL="0" indent="0">
              <a:spcAft>
                <a:spcPts val="200"/>
              </a:spcAft>
              <a:buNone/>
            </a:pPr>
            <a:r>
              <a:rPr lang="en-US" sz="1400" dirty="0">
                <a:solidFill>
                  <a:schemeClr val="bg1"/>
                </a:solidFill>
              </a:rPr>
              <a:t>Football matches, concerts, conferences, holidays, road closures.</a:t>
            </a:r>
            <a:endParaRPr lang="en-US" sz="1700" dirty="0"/>
          </a:p>
          <a:p>
            <a:pPr marL="0" indent="0">
              <a:spcAft>
                <a:spcPts val="200"/>
              </a:spcAft>
              <a:buNone/>
            </a:pPr>
            <a:r>
              <a:rPr lang="en-US" sz="1300" i="1" dirty="0">
                <a:solidFill>
                  <a:schemeClr val="accent5"/>
                </a:solidFill>
              </a:rPr>
              <a:t>Catch: Re-issued duplicates, “Citywide” zones, cancelled events</a:t>
            </a:r>
            <a:endParaRPr lang="en-US" sz="1700" dirty="0"/>
          </a:p>
        </p:txBody>
      </p:sp>
      <p:sp>
        <p:nvSpPr>
          <p:cNvPr id="25" name="Slide Number Placeholder 0"/>
          <p:cNvSpPr>
            <a:spLocks noGrp="1"/>
          </p:cNvSpPr>
          <p:nvPr>
            <p:ph type="sldNum" sz="quarter" idx="4294967295"/>
          </p:nvPr>
        </p:nvSpPr>
        <p:spPr>
          <a:xfrm>
            <a:off x="11338560" y="6400800"/>
            <a:ext cx="457200" cy="274320"/>
          </a:xfrm>
          <a:prstGeom prst="rect">
            <a:avLst/>
          </a:prstGeom>
        </p:spPr>
        <p:txBody>
          <a:bodyPr/>
          <a:lstStyle>
            <a:lvl1pPr>
              <a:defRPr sz="1000">
                <a:solidFill>
                  <a:schemeClr val="accent6"/>
                </a:solidFill>
                <a:latin typeface="Calibri" panose="020F0502020204030204"/>
                <a:ea typeface="Calibri" panose="020F0502020204030204"/>
                <a:cs typeface="Calibri" panose="020F0502020204030204"/>
              </a:defRPr>
            </a:lvl1pPr>
          </a:lstStyle>
          <a:p>
            <a:pPr algn="l"/>
            <a:fld id="{F7021451-1387-4CA6-816F-3879F97B5CBC}" type="slidenum">
              <a:rPr lang="en-US" b="0"/>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body" idx="100" hasCustomPrompt="1"/>
          </p:nvPr>
        </p:nvSpPr>
        <p:spPr>
          <a:xfrm>
            <a:off x="548640" y="320040"/>
            <a:ext cx="10972800" cy="320040"/>
          </a:xfrm>
          <a:prstGeom prst="rect">
            <a:avLst/>
          </a:prstGeom>
          <a:noFill/>
        </p:spPr>
        <p:txBody>
          <a:bodyPr wrap="square" lIns="0" tIns="0" rIns="0" bIns="0" rtlCol="0"/>
          <a:lstStyle/>
          <a:p>
            <a:pPr marL="0" indent="0">
              <a:buNone/>
            </a:pPr>
            <a:r>
              <a:rPr lang="en-US" sz="1200" b="1" kern="0" spc="200" dirty="0">
                <a:solidFill>
                  <a:schemeClr val="accent1"/>
                </a:solidFill>
              </a:rPr>
              <a:t>2 · CLEANING &amp; INTEGRATION</a:t>
            </a:r>
            <a:endParaRPr lang="en-US" sz="1200" dirty="0"/>
          </a:p>
        </p:txBody>
      </p:sp>
      <p:sp>
        <p:nvSpPr>
          <p:cNvPr id="3" name="Text 0"/>
          <p:cNvSpPr/>
          <p:nvPr>
            <p:ph type="title" idx="101" hasCustomPrompt="1"/>
          </p:nvPr>
        </p:nvSpPr>
        <p:spPr>
          <a:xfrm>
            <a:off x="548640" y="621792"/>
            <a:ext cx="11064240" cy="685800"/>
          </a:xfrm>
          <a:prstGeom prst="rect">
            <a:avLst/>
          </a:prstGeom>
          <a:noFill/>
        </p:spPr>
        <p:txBody>
          <a:bodyPr wrap="square" lIns="0" tIns="0" rIns="0" bIns="0" rtlCol="0" anchor="t"/>
          <a:lstStyle/>
          <a:p>
            <a:pPr marL="0" indent="0" algn="l">
              <a:buNone/>
            </a:pPr>
            <a:r>
              <a:rPr lang="en-US" sz="2800" b="1" dirty="0">
                <a:solidFill>
                  <a:schemeClr val="tx2"/>
                </a:solidFill>
              </a:rPr>
              <a:t>Trips stay the left table, so every join keeps all 82,742 zone-hours</a:t>
            </a:r>
            <a:endParaRPr lang="en-US" sz="2800" dirty="0"/>
          </a:p>
        </p:txBody>
      </p:sp>
      <p:sp>
        <p:nvSpPr>
          <p:cNvPr id="4" name="Join map figure frame"/>
          <p:cNvSpPr/>
          <p:nvPr/>
        </p:nvSpPr>
        <p:spPr>
          <a:xfrm>
            <a:off x="548640" y="1463040"/>
            <a:ext cx="6766560" cy="3262659"/>
          </a:xfrm>
          <a:prstGeom prst="rect">
            <a:avLst/>
          </a:prstGeom>
          <a:solidFill>
            <a:srgbClr val="FCFCFB"/>
          </a:solidFill>
          <a:ln w="9525">
            <a:solidFill>
              <a:srgbClr val="E3E7EE"/>
            </a:solidFill>
            <a:prstDash val="solid"/>
          </a:ln>
          <a:effectLst>
            <a:outerShdw blurRad="76200" dist="25400" dir="5400000" algn="bl" rotWithShape="0">
              <a:srgbClr val="000000">
                <a:alpha val="12000"/>
              </a:srgbClr>
            </a:outerShdw>
          </a:effectLst>
        </p:spPr>
      </p:sp>
      <p:pic>
        <p:nvPicPr>
          <p:cNvPr id="5" name="Join map figure" descr="/home/claude/v3/figs/figures/a3_join_map.png"/>
          <p:cNvPicPr>
            <a:picLocks noChangeAspect="1"/>
          </p:cNvPicPr>
          <p:nvPr/>
        </p:nvPicPr>
        <p:blipFill>
          <a:blip r:embed="rId1"/>
          <a:stretch>
            <a:fillRect/>
          </a:stretch>
        </p:blipFill>
        <p:spPr>
          <a:xfrm>
            <a:off x="621792" y="1536192"/>
            <a:ext cx="6620256" cy="3116355"/>
          </a:xfrm>
          <a:prstGeom prst="rect">
            <a:avLst/>
          </a:prstGeom>
        </p:spPr>
      </p:pic>
      <p:sp>
        <p:nvSpPr>
          <p:cNvPr id="6" name="KPI 1"/>
          <p:cNvSpPr txBox="1"/>
          <p:nvPr/>
        </p:nvSpPr>
        <p:spPr>
          <a:xfrm>
            <a:off x="7680960" y="1417320"/>
            <a:ext cx="3977640" cy="411480"/>
          </a:xfrm>
          <a:prstGeom prst="rect">
            <a:avLst/>
          </a:prstGeom>
          <a:noFill/>
        </p:spPr>
        <p:txBody>
          <a:bodyPr wrap="square" lIns="0" tIns="0" rIns="0" bIns="0" rtlCol="0" anchor="ctr"/>
          <a:lstStyle/>
          <a:p>
            <a:pPr marL="0" indent="0">
              <a:buNone/>
            </a:pPr>
            <a:r>
              <a:rPr lang="en-US" sz="2400" b="1" dirty="0">
                <a:solidFill>
                  <a:schemeClr val="accent1"/>
                </a:solidFill>
                <a:latin typeface="Arial" panose="020B0604020202020204" pitchFamily="34" charset="0"/>
                <a:ea typeface="Arial" panose="020B0604020202020204" pitchFamily="34" charset="-122"/>
                <a:cs typeface="Arial" panose="020B0604020202020204" pitchFamily="34" charset="-120"/>
              </a:rPr>
              <a:t>85,460 → 82,742</a:t>
            </a:r>
            <a:endParaRPr lang="en-US" sz="2400" dirty="0"/>
          </a:p>
        </p:txBody>
      </p:sp>
      <p:sp>
        <p:nvSpPr>
          <p:cNvPr id="7" name="KPI label 1"/>
          <p:cNvSpPr txBox="1"/>
          <p:nvPr/>
        </p:nvSpPr>
        <p:spPr>
          <a:xfrm>
            <a:off x="7680960" y="1819656"/>
            <a:ext cx="3977640" cy="411480"/>
          </a:xfrm>
          <a:prstGeom prst="rect">
            <a:avLst/>
          </a:prstGeom>
          <a:noFill/>
        </p:spPr>
        <p:txBody>
          <a:bodyPr wrap="square" lIns="0" tIns="0" rIns="0" bIns="0" rtlCol="0" anchor="t"/>
          <a:lstStyle/>
          <a:p>
            <a:pPr marL="0" indent="0">
              <a:buNone/>
            </a:pPr>
            <a:r>
              <a:rPr lang="en-US" sz="1200" dirty="0">
                <a:solidFill>
                  <a:schemeClr val="tx1"/>
                </a:solidFill>
              </a:rPr>
              <a:t>trip rows after cleaning (97% kept); 55 zone labels → 12</a:t>
            </a:r>
            <a:endParaRPr lang="en-US" sz="1200" dirty="0"/>
          </a:p>
        </p:txBody>
      </p:sp>
      <p:sp>
        <p:nvSpPr>
          <p:cNvPr id="8" name="KPI 2"/>
          <p:cNvSpPr txBox="1"/>
          <p:nvPr/>
        </p:nvSpPr>
        <p:spPr>
          <a:xfrm>
            <a:off x="7680960" y="2267712"/>
            <a:ext cx="3977640" cy="411480"/>
          </a:xfrm>
          <a:prstGeom prst="rect">
            <a:avLst/>
          </a:prstGeom>
          <a:noFill/>
        </p:spPr>
        <p:txBody>
          <a:bodyPr wrap="square" lIns="0" tIns="0" rIns="0" bIns="0" rtlCol="0" anchor="ctr"/>
          <a:lstStyle/>
          <a:p>
            <a:pPr marL="0" indent="0">
              <a:buNone/>
            </a:pPr>
            <a:r>
              <a:rPr lang="en-US" sz="2400" b="1" dirty="0">
                <a:solidFill>
                  <a:schemeClr val="accent1"/>
                </a:solidFill>
                <a:latin typeface="Arial" panose="020B0604020202020204" pitchFamily="34" charset="0"/>
                <a:ea typeface="Arial" panose="020B0604020202020204" pitchFamily="34" charset="-122"/>
                <a:cs typeface="Arial" panose="020B0604020202020204" pitchFamily="34" charset="-120"/>
              </a:rPr>
              <a:t>100%</a:t>
            </a:r>
            <a:endParaRPr lang="en-US" sz="2400" dirty="0"/>
          </a:p>
        </p:txBody>
      </p:sp>
      <p:sp>
        <p:nvSpPr>
          <p:cNvPr id="9" name="KPI label 2"/>
          <p:cNvSpPr txBox="1"/>
          <p:nvPr/>
        </p:nvSpPr>
        <p:spPr>
          <a:xfrm>
            <a:off x="7680960" y="2670048"/>
            <a:ext cx="3977640" cy="411480"/>
          </a:xfrm>
          <a:prstGeom prst="rect">
            <a:avLst/>
          </a:prstGeom>
          <a:noFill/>
        </p:spPr>
        <p:txBody>
          <a:bodyPr wrap="square" lIns="0" tIns="0" rIns="0" bIns="0" rtlCol="0" anchor="t"/>
          <a:lstStyle/>
          <a:p>
            <a:pPr marL="0" indent="0">
              <a:buNone/>
            </a:pPr>
            <a:r>
              <a:rPr lang="en-US" sz="1200" dirty="0">
                <a:solidFill>
                  <a:schemeClr val="tx1"/>
                </a:solidFill>
              </a:rPr>
              <a:t>weather match; 186 station hours filled and flagged</a:t>
            </a:r>
            <a:endParaRPr lang="en-US" sz="1200" dirty="0"/>
          </a:p>
        </p:txBody>
      </p:sp>
      <p:sp>
        <p:nvSpPr>
          <p:cNvPr id="10" name="KPI 3"/>
          <p:cNvSpPr txBox="1"/>
          <p:nvPr/>
        </p:nvSpPr>
        <p:spPr>
          <a:xfrm>
            <a:off x="7680960" y="3118104"/>
            <a:ext cx="3977640" cy="411480"/>
          </a:xfrm>
          <a:prstGeom prst="rect">
            <a:avLst/>
          </a:prstGeom>
          <a:noFill/>
        </p:spPr>
        <p:txBody>
          <a:bodyPr wrap="square" lIns="0" tIns="0" rIns="0" bIns="0" rtlCol="0" anchor="ctr"/>
          <a:lstStyle/>
          <a:p>
            <a:pPr marL="0" indent="0">
              <a:buNone/>
            </a:pPr>
            <a:r>
              <a:rPr lang="en-US" sz="2400" b="1" dirty="0">
                <a:solidFill>
                  <a:schemeClr val="accent1"/>
                </a:solidFill>
                <a:latin typeface="Arial" panose="020B0604020202020204" pitchFamily="34" charset="0"/>
                <a:ea typeface="Arial" panose="020B0604020202020204" pitchFamily="34" charset="-122"/>
                <a:cs typeface="Arial" panose="020B0604020202020204" pitchFamily="34" charset="-120"/>
              </a:rPr>
              <a:t>1,829</a:t>
            </a:r>
            <a:endParaRPr lang="en-US" sz="2400" dirty="0"/>
          </a:p>
        </p:txBody>
      </p:sp>
      <p:sp>
        <p:nvSpPr>
          <p:cNvPr id="11" name="KPI label 3"/>
          <p:cNvSpPr txBox="1"/>
          <p:nvPr/>
        </p:nvSpPr>
        <p:spPr>
          <a:xfrm>
            <a:off x="7680960" y="3520440"/>
            <a:ext cx="3977640" cy="411480"/>
          </a:xfrm>
          <a:prstGeom prst="rect">
            <a:avLst/>
          </a:prstGeom>
          <a:noFill/>
        </p:spPr>
        <p:txBody>
          <a:bodyPr wrap="square" lIns="0" tIns="0" rIns="0" bIns="0" rtlCol="0" anchor="t"/>
          <a:lstStyle/>
          <a:p>
            <a:pPr marL="0" indent="0">
              <a:buNone/>
            </a:pPr>
            <a:r>
              <a:rPr lang="en-US" sz="1200" dirty="0">
                <a:solidFill>
                  <a:schemeClr val="tx1"/>
                </a:solidFill>
              </a:rPr>
              <a:t>zone-hours (2.2%) in an event window: start − 2 h to end + 2 h</a:t>
            </a:r>
            <a:endParaRPr lang="en-US" sz="1200" dirty="0"/>
          </a:p>
        </p:txBody>
      </p:sp>
      <p:sp>
        <p:nvSpPr>
          <p:cNvPr id="12" name="KPI 4"/>
          <p:cNvSpPr txBox="1"/>
          <p:nvPr/>
        </p:nvSpPr>
        <p:spPr>
          <a:xfrm>
            <a:off x="7680960" y="3968496"/>
            <a:ext cx="3977640" cy="411480"/>
          </a:xfrm>
          <a:prstGeom prst="rect">
            <a:avLst/>
          </a:prstGeom>
          <a:noFill/>
        </p:spPr>
        <p:txBody>
          <a:bodyPr wrap="square" lIns="0" tIns="0" rIns="0" bIns="0" rtlCol="0" anchor="ctr"/>
          <a:lstStyle/>
          <a:p>
            <a:pPr marL="0" indent="0">
              <a:buNone/>
            </a:pPr>
            <a:r>
              <a:rPr lang="en-US" sz="2400" b="1" dirty="0">
                <a:solidFill>
                  <a:schemeClr val="accent1"/>
                </a:solidFill>
                <a:latin typeface="Arial" panose="020B0604020202020204" pitchFamily="34" charset="0"/>
                <a:ea typeface="Arial" panose="020B0604020202020204" pitchFamily="34" charset="-122"/>
                <a:cs typeface="Arial" panose="020B0604020202020204" pitchFamily="34" charset="-120"/>
              </a:rPr>
              <a:t>146 / 159</a:t>
            </a:r>
            <a:endParaRPr lang="en-US" sz="2400" dirty="0"/>
          </a:p>
        </p:txBody>
      </p:sp>
      <p:sp>
        <p:nvSpPr>
          <p:cNvPr id="13" name="KPI label 4"/>
          <p:cNvSpPr txBox="1"/>
          <p:nvPr/>
        </p:nvSpPr>
        <p:spPr>
          <a:xfrm>
            <a:off x="7680960" y="4370832"/>
            <a:ext cx="3977640" cy="411480"/>
          </a:xfrm>
          <a:prstGeom prst="rect">
            <a:avLst/>
          </a:prstGeom>
          <a:noFill/>
        </p:spPr>
        <p:txBody>
          <a:bodyPr wrap="square" lIns="0" tIns="0" rIns="0" bIns="0" rtlCol="0" anchor="t"/>
          <a:lstStyle/>
          <a:p>
            <a:pPr marL="0" indent="0">
              <a:buNone/>
            </a:pPr>
            <a:r>
              <a:rPr lang="en-US" sz="1200" dirty="0">
                <a:solidFill>
                  <a:schemeClr val="tx1"/>
                </a:solidFill>
              </a:rPr>
              <a:t>events matched; 6 cancelled, 7 fall in the test period</a:t>
            </a:r>
            <a:endParaRPr lang="en-US" sz="1200" dirty="0"/>
          </a:p>
        </p:txBody>
      </p:sp>
      <p:sp>
        <p:nvSpPr>
          <p:cNvPr id="14" name="Clock problem card"/>
          <p:cNvSpPr/>
          <p:nvPr/>
        </p:nvSpPr>
        <p:spPr>
          <a:xfrm>
            <a:off x="548640" y="4937760"/>
            <a:ext cx="11109960" cy="1325880"/>
          </a:xfrm>
          <a:prstGeom prst="roundRect">
            <a:avLst>
              <a:gd name="adj" fmla="val 5517"/>
            </a:avLst>
          </a:prstGeom>
          <a:solidFill>
            <a:schemeClr val="bg2"/>
          </a:solidFill>
        </p:spPr>
      </p:sp>
      <p:pic>
        <p:nvPicPr>
          <p:cNvPr id="15" name="Clock check mini figure" descr="/home/claude/deck/fig06_left.png"/>
          <p:cNvPicPr>
            <a:picLocks noChangeAspect="1"/>
          </p:cNvPicPr>
          <p:nvPr/>
        </p:nvPicPr>
        <p:blipFill>
          <a:blip r:embed="rId2"/>
          <a:stretch>
            <a:fillRect/>
          </a:stretch>
        </p:blipFill>
        <p:spPr>
          <a:xfrm>
            <a:off x="685800" y="5010912"/>
            <a:ext cx="2103120" cy="1216152"/>
          </a:xfrm>
          <a:prstGeom prst="rect">
            <a:avLst/>
          </a:prstGeom>
        </p:spPr>
      </p:pic>
      <p:sp>
        <p:nvSpPr>
          <p:cNvPr id="16" name="Clock problem text"/>
          <p:cNvSpPr txBox="1"/>
          <p:nvPr/>
        </p:nvSpPr>
        <p:spPr>
          <a:xfrm>
            <a:off x="3017520" y="5029200"/>
            <a:ext cx="8503920" cy="1143000"/>
          </a:xfrm>
          <a:prstGeom prst="rect">
            <a:avLst/>
          </a:prstGeom>
          <a:noFill/>
        </p:spPr>
        <p:txBody>
          <a:bodyPr wrap="square" lIns="0" tIns="0" rIns="0" bIns="0" rtlCol="0" anchor="ctr"/>
          <a:lstStyle/>
          <a:p>
            <a:pPr marL="0" indent="0">
              <a:buNone/>
            </a:pPr>
            <a:r>
              <a:rPr lang="en-US" sz="1400" b="1" dirty="0">
                <a:solidFill>
                  <a:schemeClr val="accent2"/>
                </a:solidFill>
              </a:rPr>
              <a:t>The clock problem. </a:t>
            </a:r>
            <a:r>
              <a:rPr lang="en-US" sz="1400" dirty="0">
                <a:solidFill>
                  <a:schemeClr val="tx1"/>
                </a:solidFill>
              </a:rPr>
              <a:t>Weather is stored in UTC; trips mix local times with “+03:00” stamps (12,810 rows). We put every table on Addis time (UTC+3). The slash weather rows fit the UTC series at 0 h (0.55 °C apart), not −3 h (2.7 °C). </a:t>
            </a:r>
            <a:r>
              <a:rPr lang="en-US" sz="1400" b="1" dirty="0">
                <a:solidFill>
                  <a:schemeClr val="tx1"/>
                </a:solidFill>
              </a:rPr>
              <a:t>Proof: </a:t>
            </a:r>
            <a:r>
              <a:rPr lang="en-US" sz="1400" dirty="0">
                <a:solidFill>
                  <a:schemeClr val="tx1"/>
                </a:solidFill>
              </a:rPr>
              <a:t>temperature peaks at 15:00 after +3 h, not 12:00.</a:t>
            </a:r>
            <a:endParaRPr lang="en-US" sz="1400" dirty="0"/>
          </a:p>
        </p:txBody>
      </p:sp>
      <p:sp>
        <p:nvSpPr>
          <p:cNvPr id="25" name="Slide Number Placeholder 0"/>
          <p:cNvSpPr>
            <a:spLocks noGrp="1"/>
          </p:cNvSpPr>
          <p:nvPr>
            <p:ph type="sldNum" sz="quarter" idx="4294967295"/>
          </p:nvPr>
        </p:nvSpPr>
        <p:spPr>
          <a:xfrm>
            <a:off x="11338560" y="6400800"/>
            <a:ext cx="457200" cy="274320"/>
          </a:xfrm>
          <a:prstGeom prst="rect">
            <a:avLst/>
          </a:prstGeom>
        </p:spPr>
        <p:txBody>
          <a:bodyPr/>
          <a:lstStyle>
            <a:lvl1pPr>
              <a:defRPr sz="1000">
                <a:solidFill>
                  <a:schemeClr val="accent4"/>
                </a:solidFill>
                <a:latin typeface="Calibri" panose="020F0502020204030204"/>
                <a:ea typeface="Calibri" panose="020F0502020204030204"/>
                <a:cs typeface="Calibri" panose="020F0502020204030204"/>
              </a:defRPr>
            </a:lvl1pPr>
          </a:lstStyle>
          <a:p>
            <a:pPr algn="l"/>
            <a:fld id="{F7021451-1387-4CA6-816F-3879F97B5CBC}" type="slidenum">
              <a:rPr lang="en-US" b="0"/>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body" idx="100" hasCustomPrompt="1"/>
          </p:nvPr>
        </p:nvSpPr>
        <p:spPr>
          <a:xfrm>
            <a:off x="548640" y="320040"/>
            <a:ext cx="10972800" cy="320040"/>
          </a:xfrm>
          <a:prstGeom prst="rect">
            <a:avLst/>
          </a:prstGeom>
          <a:noFill/>
        </p:spPr>
        <p:txBody>
          <a:bodyPr wrap="square" lIns="0" tIns="0" rIns="0" bIns="0" rtlCol="0"/>
          <a:lstStyle/>
          <a:p>
            <a:pPr marL="0" indent="0">
              <a:buNone/>
            </a:pPr>
            <a:r>
              <a:rPr lang="en-US" sz="1200" b="1" kern="0" spc="200" dirty="0">
                <a:solidFill>
                  <a:schemeClr val="accent1"/>
                </a:solidFill>
              </a:rPr>
              <a:t>3 · WHAT THE DATA SAYS · THE PATTERNS</a:t>
            </a:r>
            <a:endParaRPr lang="en-US" sz="1200" dirty="0"/>
          </a:p>
        </p:txBody>
      </p:sp>
      <p:sp>
        <p:nvSpPr>
          <p:cNvPr id="3" name="Text 0"/>
          <p:cNvSpPr/>
          <p:nvPr>
            <p:ph type="title" idx="101" hasCustomPrompt="1"/>
          </p:nvPr>
        </p:nvSpPr>
        <p:spPr>
          <a:xfrm>
            <a:off x="548640" y="621792"/>
            <a:ext cx="11064240" cy="685800"/>
          </a:xfrm>
          <a:prstGeom prst="rect">
            <a:avLst/>
          </a:prstGeom>
          <a:noFill/>
        </p:spPr>
        <p:txBody>
          <a:bodyPr wrap="square" lIns="0" tIns="0" rIns="0" bIns="0" rtlCol="0" anchor="t"/>
          <a:lstStyle/>
          <a:p>
            <a:pPr marL="0" indent="0" algn="l">
              <a:buNone/>
            </a:pPr>
            <a:r>
              <a:rPr lang="en-US" sz="2800" b="1" dirty="0">
                <a:solidFill>
                  <a:schemeClr val="tx2"/>
                </a:solidFill>
              </a:rPr>
              <a:t>Demand grew 41%, and each zone type has its own rhythm</a:t>
            </a:r>
            <a:endParaRPr lang="en-US" sz="2800" dirty="0"/>
          </a:p>
        </p:txBody>
      </p:sp>
      <p:sp>
        <p:nvSpPr>
          <p:cNvPr id="4" name="Demand trend figure frame"/>
          <p:cNvSpPr/>
          <p:nvPr/>
        </p:nvSpPr>
        <p:spPr>
          <a:xfrm>
            <a:off x="548640" y="1463040"/>
            <a:ext cx="5577840" cy="2588808"/>
          </a:xfrm>
          <a:prstGeom prst="rect">
            <a:avLst/>
          </a:prstGeom>
          <a:solidFill>
            <a:srgbClr val="FCFCFB"/>
          </a:solidFill>
          <a:ln w="9525">
            <a:solidFill>
              <a:srgbClr val="E3E7EE"/>
            </a:solidFill>
            <a:prstDash val="solid"/>
          </a:ln>
          <a:effectLst>
            <a:outerShdw blurRad="76200" dist="25400" dir="5400000" algn="bl" rotWithShape="0">
              <a:srgbClr val="000000">
                <a:alpha val="12000"/>
              </a:srgbClr>
            </a:outerShdw>
          </a:effectLst>
        </p:spPr>
      </p:sp>
      <p:pic>
        <p:nvPicPr>
          <p:cNvPr id="5" name="Demand trend figure" descr="/home/claude/v3/figs/figures/fig03_demand_trend_with_holidays.png"/>
          <p:cNvPicPr>
            <a:picLocks noChangeAspect="1"/>
          </p:cNvPicPr>
          <p:nvPr/>
        </p:nvPicPr>
        <p:blipFill>
          <a:blip r:embed="rId1"/>
          <a:stretch>
            <a:fillRect/>
          </a:stretch>
        </p:blipFill>
        <p:spPr>
          <a:xfrm>
            <a:off x="621792" y="1536192"/>
            <a:ext cx="5431536" cy="2442504"/>
          </a:xfrm>
          <a:prstGeom prst="rect">
            <a:avLst/>
          </a:prstGeom>
        </p:spPr>
      </p:pic>
      <p:sp>
        <p:nvSpPr>
          <p:cNvPr id="6" name="Trend takeaways"/>
          <p:cNvSpPr txBox="1"/>
          <p:nvPr/>
        </p:nvSpPr>
        <p:spPr>
          <a:xfrm>
            <a:off x="6400800" y="1508760"/>
            <a:ext cx="5257800" cy="2423160"/>
          </a:xfrm>
          <a:prstGeom prst="rect">
            <a:avLst/>
          </a:prstGeom>
          <a:noFill/>
        </p:spPr>
        <p:txBody>
          <a:bodyPr wrap="square" lIns="0" tIns="0" rIns="0" bIns="0" rtlCol="0" anchor="t"/>
          <a:lstStyle/>
          <a:p>
            <a:pPr marL="0" indent="0">
              <a:spcAft>
                <a:spcPts val="600"/>
              </a:spcAft>
              <a:buNone/>
            </a:pPr>
            <a:r>
              <a:rPr lang="en-US" sz="1700" b="1" dirty="0">
                <a:solidFill>
                  <a:schemeClr val="accent1"/>
                </a:solidFill>
              </a:rPr>
              <a:t>Steady growth, +41% Jan → Oct</a:t>
            </a:r>
            <a:endParaRPr lang="en-US" sz="1400" dirty="0"/>
          </a:p>
          <a:p>
            <a:pPr marL="342900" indent="-342900">
              <a:spcAft>
                <a:spcPts val="600"/>
              </a:spcAft>
              <a:buSzPct val="100000"/>
              <a:buChar char="•"/>
            </a:pPr>
            <a:r>
              <a:rPr lang="en-US" sz="1400" dirty="0">
                <a:solidFill>
                  <a:schemeClr val="tx1"/>
                </a:solidFill>
              </a:rPr>
              <a:t>About +3.9% a month, with no slowdown — so the model needs a trend term and recent lags.</a:t>
            </a:r>
            <a:endParaRPr lang="en-US" sz="1400" dirty="0"/>
          </a:p>
          <a:p>
            <a:pPr marL="342900" indent="-342900">
              <a:spcAft>
                <a:spcPts val="600"/>
              </a:spcAft>
              <a:buSzPct val="100000"/>
              <a:buChar char="•"/>
            </a:pPr>
            <a:r>
              <a:rPr lang="en-US" sz="1400" dirty="0">
                <a:solidFill>
                  <a:schemeClr val="tx1"/>
                </a:solidFill>
              </a:rPr>
              <a:t>Weekday holidays fall to about 73–85% of a normal day; Good Friday is lowest.</a:t>
            </a:r>
            <a:endParaRPr lang="en-US" sz="1400" dirty="0"/>
          </a:p>
          <a:p>
            <a:pPr marL="342900" indent="-342900">
              <a:spcAft>
                <a:spcPts val="600"/>
              </a:spcAft>
              <a:buSzPct val="100000"/>
              <a:buChar char="•"/>
            </a:pPr>
            <a:r>
              <a:rPr lang="en-US" sz="1400" dirty="0">
                <a:solidFill>
                  <a:schemeClr val="tx1"/>
                </a:solidFill>
              </a:rPr>
              <a:t>The 12–13 May dip is a 42-hour data outage, not real demand; Ayat only starts on 15 March.</a:t>
            </a:r>
            <a:endParaRPr lang="en-US" sz="1400" dirty="0"/>
          </a:p>
        </p:txBody>
      </p:sp>
      <p:sp>
        <p:nvSpPr>
          <p:cNvPr id="7" name="Zone profiles figure frame"/>
          <p:cNvSpPr/>
          <p:nvPr/>
        </p:nvSpPr>
        <p:spPr>
          <a:xfrm>
            <a:off x="548640" y="4114800"/>
            <a:ext cx="7955280" cy="2155290"/>
          </a:xfrm>
          <a:prstGeom prst="rect">
            <a:avLst/>
          </a:prstGeom>
          <a:solidFill>
            <a:srgbClr val="FCFCFB"/>
          </a:solidFill>
          <a:ln w="9525">
            <a:solidFill>
              <a:srgbClr val="E3E7EE"/>
            </a:solidFill>
            <a:prstDash val="solid"/>
          </a:ln>
          <a:effectLst>
            <a:outerShdw blurRad="76200" dist="25400" dir="5400000" algn="bl" rotWithShape="0">
              <a:srgbClr val="000000">
                <a:alpha val="12000"/>
              </a:srgbClr>
            </a:outerShdw>
          </a:effectLst>
        </p:spPr>
      </p:sp>
      <p:pic>
        <p:nvPicPr>
          <p:cNvPr id="8" name="Zone profiles figure" descr="/home/claude/v3/figs/figures/fig05_zone_profiles.png"/>
          <p:cNvPicPr>
            <a:picLocks noChangeAspect="1"/>
          </p:cNvPicPr>
          <p:nvPr/>
        </p:nvPicPr>
        <p:blipFill>
          <a:blip r:embed="rId2"/>
          <a:stretch>
            <a:fillRect/>
          </a:stretch>
        </p:blipFill>
        <p:spPr>
          <a:xfrm>
            <a:off x="621792" y="4187952"/>
            <a:ext cx="7808976" cy="2008986"/>
          </a:xfrm>
          <a:prstGeom prst="rect">
            <a:avLst/>
          </a:prstGeom>
        </p:spPr>
      </p:pic>
      <p:sp>
        <p:nvSpPr>
          <p:cNvPr id="9" name="Zone type takeaway"/>
          <p:cNvSpPr txBox="1"/>
          <p:nvPr/>
        </p:nvSpPr>
        <p:spPr>
          <a:xfrm>
            <a:off x="8915400" y="4206240"/>
            <a:ext cx="2743200" cy="2103120"/>
          </a:xfrm>
          <a:prstGeom prst="rect">
            <a:avLst/>
          </a:prstGeom>
          <a:noFill/>
        </p:spPr>
        <p:txBody>
          <a:bodyPr wrap="square" lIns="0" tIns="0" rIns="0" bIns="0" rtlCol="0" anchor="t"/>
          <a:lstStyle/>
          <a:p>
            <a:pPr marL="0" indent="0">
              <a:spcAft>
                <a:spcPts val="400"/>
              </a:spcAft>
              <a:buNone/>
            </a:pPr>
            <a:r>
              <a:rPr lang="en-US" sz="1700" b="1" dirty="0">
                <a:solidFill>
                  <a:schemeClr val="accent2"/>
                </a:solidFill>
              </a:rPr>
              <a:t>5 zone types</a:t>
            </a:r>
            <a:endParaRPr lang="en-US" sz="1300" dirty="0"/>
          </a:p>
          <a:p>
            <a:pPr marL="0" indent="0">
              <a:spcAft>
                <a:spcPts val="400"/>
              </a:spcAft>
              <a:buNone/>
            </a:pPr>
            <a:r>
              <a:rPr lang="en-US" sz="1300" dirty="0">
                <a:solidFill>
                  <a:schemeClr val="tx1"/>
                </a:solidFill>
              </a:rPr>
              <a:t>Clustering hourly shapes: business zones empty at weekends, Merkato peaks at midday, Bole peaks late on weekend nights. One city-wide curve fits no zone.</a:t>
            </a:r>
            <a:endParaRPr lang="en-US" sz="1300" dirty="0"/>
          </a:p>
        </p:txBody>
      </p:sp>
      <p:sp>
        <p:nvSpPr>
          <p:cNvPr id="25" name="Slide Number Placeholder 0"/>
          <p:cNvSpPr>
            <a:spLocks noGrp="1"/>
          </p:cNvSpPr>
          <p:nvPr>
            <p:ph type="sldNum" sz="quarter" idx="4294967295"/>
          </p:nvPr>
        </p:nvSpPr>
        <p:spPr>
          <a:xfrm>
            <a:off x="11338560" y="6400800"/>
            <a:ext cx="457200" cy="274320"/>
          </a:xfrm>
          <a:prstGeom prst="rect">
            <a:avLst/>
          </a:prstGeom>
        </p:spPr>
        <p:txBody>
          <a:bodyPr/>
          <a:lstStyle>
            <a:lvl1pPr>
              <a:defRPr sz="1000">
                <a:solidFill>
                  <a:schemeClr val="accent4"/>
                </a:solidFill>
                <a:latin typeface="Calibri" panose="020F0502020204030204"/>
                <a:ea typeface="Calibri" panose="020F0502020204030204"/>
                <a:cs typeface="Calibri" panose="020F0502020204030204"/>
              </a:defRPr>
            </a:lvl1pPr>
          </a:lstStyle>
          <a:p>
            <a:pPr algn="l"/>
            <a:fld id="{F7021451-1387-4CA6-816F-3879F97B5CBC}" type="slidenum">
              <a:rPr lang="en-US" b="0"/>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body" idx="100" hasCustomPrompt="1"/>
          </p:nvPr>
        </p:nvSpPr>
        <p:spPr>
          <a:xfrm>
            <a:off x="548640" y="320040"/>
            <a:ext cx="10972800" cy="320040"/>
          </a:xfrm>
          <a:prstGeom prst="rect">
            <a:avLst/>
          </a:prstGeom>
          <a:noFill/>
        </p:spPr>
        <p:txBody>
          <a:bodyPr wrap="square" lIns="0" tIns="0" rIns="0" bIns="0" rtlCol="0"/>
          <a:lstStyle/>
          <a:p>
            <a:pPr marL="0" indent="0">
              <a:buNone/>
            </a:pPr>
            <a:r>
              <a:rPr lang="en-US" sz="1200" b="1" kern="0" spc="200" dirty="0">
                <a:solidFill>
                  <a:schemeClr val="accent1"/>
                </a:solidFill>
              </a:rPr>
              <a:t>3 · WHAT THE DATA SAYS · TWO KEY FINDINGS</a:t>
            </a:r>
            <a:endParaRPr lang="en-US" sz="1200" dirty="0"/>
          </a:p>
        </p:txBody>
      </p:sp>
      <p:sp>
        <p:nvSpPr>
          <p:cNvPr id="3" name="Text 0"/>
          <p:cNvSpPr/>
          <p:nvPr>
            <p:ph type="title" idx="101" hasCustomPrompt="1"/>
          </p:nvPr>
        </p:nvSpPr>
        <p:spPr>
          <a:xfrm>
            <a:off x="548640" y="621792"/>
            <a:ext cx="11064240" cy="685800"/>
          </a:xfrm>
          <a:prstGeom prst="rect">
            <a:avLst/>
          </a:prstGeom>
          <a:noFill/>
        </p:spPr>
        <p:txBody>
          <a:bodyPr wrap="square" lIns="0" tIns="0" rIns="0" bIns="0" rtlCol="0" anchor="t"/>
          <a:lstStyle/>
          <a:p>
            <a:pPr marL="0" indent="0" algn="l">
              <a:buNone/>
            </a:pPr>
            <a:r>
              <a:rPr lang="en-US" sz="2800" b="1" dirty="0">
                <a:solidFill>
                  <a:schemeClr val="tx2"/>
                </a:solidFill>
              </a:rPr>
              <a:t>Rain and big events push demand up — except at the market</a:t>
            </a:r>
            <a:endParaRPr lang="en-US" sz="2800" dirty="0"/>
          </a:p>
        </p:txBody>
      </p:sp>
      <p:sp>
        <p:nvSpPr>
          <p:cNvPr id="4" name="Rain effect figure frame"/>
          <p:cNvSpPr/>
          <p:nvPr/>
        </p:nvSpPr>
        <p:spPr>
          <a:xfrm>
            <a:off x="548640" y="1508760"/>
            <a:ext cx="5394960" cy="3127248"/>
          </a:xfrm>
          <a:prstGeom prst="rect">
            <a:avLst/>
          </a:prstGeom>
          <a:solidFill>
            <a:srgbClr val="FCFCFB"/>
          </a:solidFill>
          <a:ln w="9525">
            <a:solidFill>
              <a:srgbClr val="E3E7EE"/>
            </a:solidFill>
            <a:prstDash val="solid"/>
          </a:ln>
          <a:effectLst>
            <a:outerShdw blurRad="76200" dist="25400" dir="5400000" algn="bl" rotWithShape="0">
              <a:srgbClr val="000000">
                <a:alpha val="12000"/>
              </a:srgbClr>
            </a:outerShdw>
          </a:effectLst>
        </p:spPr>
      </p:sp>
      <p:pic>
        <p:nvPicPr>
          <p:cNvPr id="5" name="Rain effect figure" descr="/home/claude/v3/figs/figures/fig07_rain_effect.png"/>
          <p:cNvPicPr>
            <a:picLocks noChangeAspect="1"/>
          </p:cNvPicPr>
          <p:nvPr/>
        </p:nvPicPr>
        <p:blipFill>
          <a:blip r:embed="rId1"/>
          <a:stretch>
            <a:fillRect/>
          </a:stretch>
        </p:blipFill>
        <p:spPr>
          <a:xfrm>
            <a:off x="621792" y="1581912"/>
            <a:ext cx="5248656" cy="2980944"/>
          </a:xfrm>
          <a:prstGeom prst="rect">
            <a:avLst/>
          </a:prstGeom>
        </p:spPr>
      </p:pic>
      <p:sp>
        <p:nvSpPr>
          <p:cNvPr id="6" name="Event study figure frame"/>
          <p:cNvSpPr/>
          <p:nvPr/>
        </p:nvSpPr>
        <p:spPr>
          <a:xfrm>
            <a:off x="6263640" y="1508760"/>
            <a:ext cx="5394960" cy="3127248"/>
          </a:xfrm>
          <a:prstGeom prst="rect">
            <a:avLst/>
          </a:prstGeom>
          <a:solidFill>
            <a:srgbClr val="FCFCFB"/>
          </a:solidFill>
          <a:ln w="9525">
            <a:solidFill>
              <a:srgbClr val="E3E7EE"/>
            </a:solidFill>
            <a:prstDash val="solid"/>
          </a:ln>
          <a:effectLst>
            <a:outerShdw blurRad="76200" dist="25400" dir="5400000" algn="bl" rotWithShape="0">
              <a:srgbClr val="000000">
                <a:alpha val="12000"/>
              </a:srgbClr>
            </a:outerShdw>
          </a:effectLst>
        </p:spPr>
      </p:sp>
      <p:pic>
        <p:nvPicPr>
          <p:cNvPr id="7" name="Event study figure" descr="/home/claude/v3/figs/figures/fig08_event_study.png"/>
          <p:cNvPicPr>
            <a:picLocks noChangeAspect="1"/>
          </p:cNvPicPr>
          <p:nvPr/>
        </p:nvPicPr>
        <p:blipFill>
          <a:blip r:embed="rId2"/>
          <a:stretch>
            <a:fillRect/>
          </a:stretch>
        </p:blipFill>
        <p:spPr>
          <a:xfrm>
            <a:off x="6336792" y="1581912"/>
            <a:ext cx="5248656" cy="2980944"/>
          </a:xfrm>
          <a:prstGeom prst="rect">
            <a:avLst/>
          </a:prstGeom>
        </p:spPr>
      </p:pic>
      <p:sp>
        <p:nvSpPr>
          <p:cNvPr id="8" name="Finding 1 headline"/>
          <p:cNvSpPr txBox="1"/>
          <p:nvPr/>
        </p:nvSpPr>
        <p:spPr>
          <a:xfrm>
            <a:off x="548640" y="4846320"/>
            <a:ext cx="5394960" cy="548640"/>
          </a:xfrm>
          <a:prstGeom prst="rect">
            <a:avLst/>
          </a:prstGeom>
          <a:noFill/>
        </p:spPr>
        <p:txBody>
          <a:bodyPr wrap="square" lIns="0" tIns="0" rIns="0" bIns="0" rtlCol="0" anchor="t"/>
          <a:lstStyle/>
          <a:p>
            <a:pPr marL="0" indent="0">
              <a:buNone/>
            </a:pPr>
            <a:r>
              <a:rPr lang="en-US" sz="1700" b="1" dirty="0">
                <a:solidFill>
                  <a:schemeClr val="accent1"/>
                </a:solidFill>
              </a:rPr>
              <a:t>Heavy rain: about +60% rides — but Merkato falls to 0.63×</a:t>
            </a:r>
            <a:endParaRPr lang="en-US" sz="1700" dirty="0"/>
          </a:p>
        </p:txBody>
      </p:sp>
      <p:sp>
        <p:nvSpPr>
          <p:cNvPr id="9" name="Finding 1 text"/>
          <p:cNvSpPr txBox="1"/>
          <p:nvPr/>
        </p:nvSpPr>
        <p:spPr>
          <a:xfrm>
            <a:off x="548640" y="5303520"/>
            <a:ext cx="5394960" cy="822960"/>
          </a:xfrm>
          <a:prstGeom prst="rect">
            <a:avLst/>
          </a:prstGeom>
          <a:noFill/>
        </p:spPr>
        <p:txBody>
          <a:bodyPr wrap="square" lIns="0" tIns="0" rIns="0" bIns="0" rtlCol="0" anchor="t"/>
          <a:lstStyle/>
          <a:p>
            <a:pPr marL="0" indent="0">
              <a:buNone/>
            </a:pPr>
            <a:r>
              <a:rPr lang="en-US" sz="1400" dirty="0">
                <a:solidFill>
                  <a:schemeClr val="tx1"/>
                </a:solidFill>
              </a:rPr>
              <a:t>Light rain already adds ~15%. Most zones switch from walking to rides; Merkato drops, likely because outdoor market activity stops.</a:t>
            </a:r>
            <a:endParaRPr lang="en-US" sz="1400" dirty="0"/>
          </a:p>
        </p:txBody>
      </p:sp>
      <p:sp>
        <p:nvSpPr>
          <p:cNvPr id="10" name="Finding 2 headline"/>
          <p:cNvSpPr txBox="1"/>
          <p:nvPr/>
        </p:nvSpPr>
        <p:spPr>
          <a:xfrm>
            <a:off x="6263640" y="4846320"/>
            <a:ext cx="5394960" cy="548640"/>
          </a:xfrm>
          <a:prstGeom prst="rect">
            <a:avLst/>
          </a:prstGeom>
          <a:noFill/>
        </p:spPr>
        <p:txBody>
          <a:bodyPr wrap="square" lIns="0" tIns="0" rIns="0" bIns="0" rtlCol="0" anchor="t"/>
          <a:lstStyle/>
          <a:p>
            <a:pPr marL="0" indent="0">
              <a:buNone/>
            </a:pPr>
            <a:r>
              <a:rPr lang="en-US" sz="1700" b="1" dirty="0">
                <a:solidFill>
                  <a:schemeClr val="accent2"/>
                </a:solidFill>
              </a:rPr>
              <a:t>Football: 2.2× demand right after the final whistle</a:t>
            </a:r>
            <a:endParaRPr lang="en-US" sz="1700" dirty="0"/>
          </a:p>
        </p:txBody>
      </p:sp>
      <p:sp>
        <p:nvSpPr>
          <p:cNvPr id="11" name="Finding 2 text"/>
          <p:cNvSpPr txBox="1"/>
          <p:nvPr/>
        </p:nvSpPr>
        <p:spPr>
          <a:xfrm>
            <a:off x="6263640" y="5303520"/>
            <a:ext cx="5394960" cy="822960"/>
          </a:xfrm>
          <a:prstGeom prst="rect">
            <a:avLst/>
          </a:prstGeom>
          <a:noFill/>
        </p:spPr>
        <p:txBody>
          <a:bodyPr wrap="square" lIns="0" tIns="0" rIns="0" bIns="0" rtlCol="0" anchor="t"/>
          <a:lstStyle/>
          <a:p>
            <a:pPr marL="0" indent="0">
              <a:buNone/>
            </a:pPr>
            <a:r>
              <a:rPr lang="en-US" sz="1400" dirty="0">
                <a:solidFill>
                  <a:schemeClr val="tx1"/>
                </a:solidFill>
              </a:rPr>
              <a:t>1.7× two hours before kick-off; concerts peak at 1.9× when they end. So our event window runs from 2 h before start to 2 h after end.</a:t>
            </a:r>
            <a:endParaRPr lang="en-US" sz="1400" dirty="0"/>
          </a:p>
        </p:txBody>
      </p:sp>
      <p:sp>
        <p:nvSpPr>
          <p:cNvPr id="25" name="Slide Number Placeholder 0"/>
          <p:cNvSpPr>
            <a:spLocks noGrp="1"/>
          </p:cNvSpPr>
          <p:nvPr>
            <p:ph type="sldNum" sz="quarter" idx="4294967295"/>
          </p:nvPr>
        </p:nvSpPr>
        <p:spPr>
          <a:xfrm>
            <a:off x="11338560" y="6400800"/>
            <a:ext cx="457200" cy="274320"/>
          </a:xfrm>
          <a:prstGeom prst="rect">
            <a:avLst/>
          </a:prstGeom>
        </p:spPr>
        <p:txBody>
          <a:bodyPr/>
          <a:lstStyle>
            <a:lvl1pPr>
              <a:defRPr sz="1000">
                <a:solidFill>
                  <a:schemeClr val="accent4"/>
                </a:solidFill>
                <a:latin typeface="Calibri" panose="020F0502020204030204"/>
                <a:ea typeface="Calibri" panose="020F0502020204030204"/>
                <a:cs typeface="Calibri" panose="020F0502020204030204"/>
              </a:defRPr>
            </a:lvl1pPr>
          </a:lstStyle>
          <a:p>
            <a:pPr algn="l"/>
            <a:fld id="{F7021451-1387-4CA6-816F-3879F97B5CBC}" type="slidenum">
              <a:rPr lang="en-US" b="0"/>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body" idx="100" hasCustomPrompt="1"/>
          </p:nvPr>
        </p:nvSpPr>
        <p:spPr>
          <a:xfrm>
            <a:off x="548640" y="320040"/>
            <a:ext cx="10972800" cy="320040"/>
          </a:xfrm>
          <a:prstGeom prst="rect">
            <a:avLst/>
          </a:prstGeom>
          <a:noFill/>
        </p:spPr>
        <p:txBody>
          <a:bodyPr wrap="square" lIns="0" tIns="0" rIns="0" bIns="0" rtlCol="0"/>
          <a:lstStyle/>
          <a:p>
            <a:pPr marL="0" indent="0">
              <a:buNone/>
            </a:pPr>
            <a:r>
              <a:rPr lang="en-US" sz="1200" b="1" kern="0" spc="200" dirty="0">
                <a:solidFill>
                  <a:schemeClr val="accent1"/>
                </a:solidFill>
              </a:rPr>
              <a:t>4 · MODELING &amp; EVALUATION</a:t>
            </a:r>
            <a:endParaRPr lang="en-US" sz="1200" dirty="0"/>
          </a:p>
        </p:txBody>
      </p:sp>
      <p:sp>
        <p:nvSpPr>
          <p:cNvPr id="3" name="Text 0"/>
          <p:cNvSpPr/>
          <p:nvPr>
            <p:ph type="title" idx="101" hasCustomPrompt="1"/>
          </p:nvPr>
        </p:nvSpPr>
        <p:spPr>
          <a:xfrm>
            <a:off x="548640" y="621792"/>
            <a:ext cx="11064240" cy="685800"/>
          </a:xfrm>
          <a:prstGeom prst="rect">
            <a:avLst/>
          </a:prstGeom>
          <a:noFill/>
        </p:spPr>
        <p:txBody>
          <a:bodyPr wrap="square" lIns="0" tIns="0" rIns="0" bIns="0" rtlCol="0" anchor="t"/>
          <a:lstStyle/>
          <a:p>
            <a:pPr marL="0" indent="0" algn="l">
              <a:buNone/>
            </a:pPr>
            <a:r>
              <a:rPr lang="en-US" sz="2800" b="1" dirty="0">
                <a:solidFill>
                  <a:schemeClr val="tx2"/>
                </a:solidFill>
              </a:rPr>
              <a:t>Tuned LightGBM beats the seasonal-naive baseline in every fold</a:t>
            </a:r>
            <a:endParaRPr lang="en-US" sz="2800" dirty="0"/>
          </a:p>
        </p:txBody>
      </p:sp>
      <p:sp>
        <p:nvSpPr>
          <p:cNvPr id="4" name="Model comparison figure frame"/>
          <p:cNvSpPr/>
          <p:nvPr/>
        </p:nvSpPr>
        <p:spPr>
          <a:xfrm>
            <a:off x="548640" y="1508760"/>
            <a:ext cx="6126480" cy="2971800"/>
          </a:xfrm>
          <a:prstGeom prst="rect">
            <a:avLst/>
          </a:prstGeom>
          <a:solidFill>
            <a:srgbClr val="FCFCFB"/>
          </a:solidFill>
          <a:ln w="9525">
            <a:solidFill>
              <a:srgbClr val="E3E7EE"/>
            </a:solidFill>
            <a:prstDash val="solid"/>
          </a:ln>
          <a:effectLst>
            <a:outerShdw blurRad="76200" dist="25400" dir="5400000" algn="bl" rotWithShape="0">
              <a:srgbClr val="000000">
                <a:alpha val="12000"/>
              </a:srgbClr>
            </a:outerShdw>
          </a:effectLst>
        </p:spPr>
      </p:sp>
      <p:pic>
        <p:nvPicPr>
          <p:cNvPr id="5" name="Model comparison figure" descr="/home/claude/v3/figs/figures/fig10_model_comparison.png"/>
          <p:cNvPicPr>
            <a:picLocks noChangeAspect="1"/>
          </p:cNvPicPr>
          <p:nvPr/>
        </p:nvPicPr>
        <p:blipFill>
          <a:blip r:embed="rId3"/>
          <a:stretch>
            <a:fillRect/>
          </a:stretch>
        </p:blipFill>
        <p:spPr>
          <a:xfrm>
            <a:off x="621792" y="1581912"/>
            <a:ext cx="5980176" cy="2825496"/>
          </a:xfrm>
          <a:prstGeom prst="rect">
            <a:avLst/>
          </a:prstGeom>
        </p:spPr>
      </p:pic>
      <p:graphicFrame>
        <p:nvGraphicFramePr>
          <p:cNvPr id="6" name="Ablation chart"/>
          <p:cNvGraphicFramePr/>
          <p:nvPr/>
        </p:nvGraphicFramePr>
        <p:xfrm>
          <a:off x="6949440" y="1463040"/>
          <a:ext cx="4709160" cy="3063240"/>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7" name="Rolling-origin chart"/>
          <p:cNvGraphicFramePr/>
          <p:nvPr/>
        </p:nvGraphicFramePr>
        <p:xfrm>
          <a:off x="548640" y="4617720"/>
          <a:ext cx="6126480" cy="1691640"/>
        </p:xfrm>
        <a:graphic>
          <a:graphicData uri="http://schemas.openxmlformats.org/drawingml/2006/chart">
            <c:chart xmlns:c="http://schemas.openxmlformats.org/drawingml/2006/chart" xmlns:r="http://schemas.openxmlformats.org/officeDocument/2006/relationships" r:id="rId2"/>
          </a:graphicData>
        </a:graphic>
      </p:graphicFrame>
      <p:sp>
        <p:nvSpPr>
          <p:cNvPr id="8" name="Model takeaway card"/>
          <p:cNvSpPr/>
          <p:nvPr/>
        </p:nvSpPr>
        <p:spPr>
          <a:xfrm>
            <a:off x="6949440" y="4709160"/>
            <a:ext cx="4709160" cy="1554480"/>
          </a:xfrm>
          <a:prstGeom prst="roundRect">
            <a:avLst>
              <a:gd name="adj" fmla="val 4706"/>
            </a:avLst>
          </a:prstGeom>
          <a:solidFill>
            <a:schemeClr val="bg2"/>
          </a:solidFill>
        </p:spPr>
      </p:sp>
      <p:sp>
        <p:nvSpPr>
          <p:cNvPr id="9" name="Model takeaway text"/>
          <p:cNvSpPr txBox="1"/>
          <p:nvPr/>
        </p:nvSpPr>
        <p:spPr>
          <a:xfrm>
            <a:off x="7132320" y="4754880"/>
            <a:ext cx="4389120" cy="1463040"/>
          </a:xfrm>
          <a:prstGeom prst="rect">
            <a:avLst/>
          </a:prstGeom>
          <a:noFill/>
        </p:spPr>
        <p:txBody>
          <a:bodyPr wrap="square" lIns="0" tIns="0" rIns="0" bIns="0" rtlCol="0" anchor="ctr"/>
          <a:lstStyle/>
          <a:p>
            <a:pPr marL="0" indent="0">
              <a:buNone/>
            </a:pPr>
            <a:r>
              <a:rPr lang="en-US" sz="2800" b="1" dirty="0">
                <a:solidFill>
                  <a:schemeClr val="accent1"/>
                </a:solidFill>
                <a:latin typeface="Arial" panose="020B0604020202020204" pitchFamily="34" charset="0"/>
                <a:ea typeface="Arial" panose="020B0604020202020204" pitchFamily="34" charset="-122"/>
                <a:cs typeface="Arial" panose="020B0604020202020204" pitchFamily="34" charset="-120"/>
              </a:rPr>
              <a:t>9.39 ± 0.86</a:t>
            </a:r>
            <a:r>
              <a:rPr lang="en-US" sz="1400" dirty="0">
                <a:solidFill>
                  <a:schemeClr val="tx1"/>
                </a:solidFill>
              </a:rPr>
              <a:t>  mean RMSE</a:t>
            </a:r>
            <a:endParaRPr lang="en-US" sz="2800" dirty="0"/>
          </a:p>
          <a:p>
            <a:pPr marL="0" indent="0">
              <a:buNone/>
            </a:pPr>
            <a:r>
              <a:rPr lang="en-US" sz="1300" dirty="0">
                <a:solidFill>
                  <a:schemeClr val="tx1"/>
                </a:solidFill>
              </a:rPr>
              <a:t>vs 10.98 seasonal naive (−14%). Tweedie loss, 15 leaves, 1,000 trees. Tuning: 9.52 → 9.39 and 3× faster; recency weights did not help.</a:t>
            </a:r>
            <a:endParaRPr lang="en-US" sz="2800" dirty="0"/>
          </a:p>
        </p:txBody>
      </p:sp>
      <p:sp>
        <p:nvSpPr>
          <p:cNvPr id="25" name="Slide Number Placeholder 0"/>
          <p:cNvSpPr>
            <a:spLocks noGrp="1"/>
          </p:cNvSpPr>
          <p:nvPr>
            <p:ph type="sldNum" sz="quarter" idx="4294967295"/>
          </p:nvPr>
        </p:nvSpPr>
        <p:spPr>
          <a:xfrm>
            <a:off x="11338560" y="6400800"/>
            <a:ext cx="457200" cy="274320"/>
          </a:xfrm>
          <a:prstGeom prst="rect">
            <a:avLst/>
          </a:prstGeom>
        </p:spPr>
        <p:txBody>
          <a:bodyPr/>
          <a:lstStyle>
            <a:lvl1pPr>
              <a:defRPr sz="1000">
                <a:solidFill>
                  <a:schemeClr val="accent4"/>
                </a:solidFill>
                <a:latin typeface="Calibri" panose="020F0502020204030204"/>
                <a:ea typeface="Calibri" panose="020F0502020204030204"/>
                <a:cs typeface="Calibri" panose="020F0502020204030204"/>
              </a:defRPr>
            </a:lvl1pPr>
          </a:lstStyle>
          <a:p>
            <a:pPr algn="l"/>
            <a:fld id="{F7021451-1387-4CA6-816F-3879F97B5CBC}" type="slidenum">
              <a:rPr lang="en-US" b="0"/>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body" idx="100" hasCustomPrompt="1"/>
          </p:nvPr>
        </p:nvSpPr>
        <p:spPr>
          <a:xfrm>
            <a:off x="548640" y="320040"/>
            <a:ext cx="10972800" cy="320040"/>
          </a:xfrm>
          <a:prstGeom prst="rect">
            <a:avLst/>
          </a:prstGeom>
          <a:noFill/>
        </p:spPr>
        <p:txBody>
          <a:bodyPr wrap="square" lIns="0" tIns="0" rIns="0" bIns="0" rtlCol="0"/>
          <a:lstStyle/>
          <a:p>
            <a:pPr marL="0" indent="0">
              <a:buNone/>
            </a:pPr>
            <a:r>
              <a:rPr lang="en-US" sz="1200" b="1" kern="0" spc="200" dirty="0">
                <a:solidFill>
                  <a:schemeClr val="accent1"/>
                </a:solidFill>
              </a:rPr>
              <a:t>5 · ERROR ANALYSIS, SCORE, DEMO &amp; NEXT STEPS</a:t>
            </a:r>
            <a:endParaRPr lang="en-US" sz="1200" dirty="0"/>
          </a:p>
        </p:txBody>
      </p:sp>
      <p:sp>
        <p:nvSpPr>
          <p:cNvPr id="3" name="Text 0"/>
          <p:cNvSpPr/>
          <p:nvPr>
            <p:ph type="title" idx="101" hasCustomPrompt="1"/>
          </p:nvPr>
        </p:nvSpPr>
        <p:spPr>
          <a:xfrm>
            <a:off x="548640" y="621792"/>
            <a:ext cx="11064240" cy="685800"/>
          </a:xfrm>
          <a:prstGeom prst="rect">
            <a:avLst/>
          </a:prstGeom>
          <a:noFill/>
        </p:spPr>
        <p:txBody>
          <a:bodyPr wrap="square" lIns="0" tIns="0" rIns="0" bIns="0" rtlCol="0" anchor="t"/>
          <a:lstStyle/>
          <a:p>
            <a:pPr marL="0" indent="0" algn="l">
              <a:buNone/>
            </a:pPr>
            <a:r>
              <a:rPr lang="en-US" sz="2800" b="1" dirty="0">
                <a:solidFill>
                  <a:schemeClr val="tx2"/>
                </a:solidFill>
              </a:rPr>
              <a:t>Errors cluster at evening peaks, rainy hours and unlisted spikes</a:t>
            </a:r>
            <a:endParaRPr lang="en-US" sz="2800" dirty="0"/>
          </a:p>
        </p:txBody>
      </p:sp>
      <p:sp>
        <p:nvSpPr>
          <p:cNvPr id="4" name="Error analysis figure frame"/>
          <p:cNvSpPr/>
          <p:nvPr/>
        </p:nvSpPr>
        <p:spPr>
          <a:xfrm>
            <a:off x="548640" y="1463040"/>
            <a:ext cx="6400800" cy="2011634"/>
          </a:xfrm>
          <a:prstGeom prst="rect">
            <a:avLst/>
          </a:prstGeom>
          <a:solidFill>
            <a:srgbClr val="FCFCFB"/>
          </a:solidFill>
          <a:ln w="9525">
            <a:solidFill>
              <a:srgbClr val="E3E7EE"/>
            </a:solidFill>
            <a:prstDash val="solid"/>
          </a:ln>
          <a:effectLst>
            <a:outerShdw blurRad="76200" dist="25400" dir="5400000" algn="bl" rotWithShape="0">
              <a:srgbClr val="000000">
                <a:alpha val="12000"/>
              </a:srgbClr>
            </a:outerShdw>
          </a:effectLst>
        </p:spPr>
      </p:sp>
      <p:pic>
        <p:nvPicPr>
          <p:cNvPr id="5" name="Error analysis figure" descr="/home/claude/v3/figs/figures/d7_error_analysis.png"/>
          <p:cNvPicPr>
            <a:picLocks noChangeAspect="1"/>
          </p:cNvPicPr>
          <p:nvPr/>
        </p:nvPicPr>
        <p:blipFill>
          <a:blip r:embed="rId1"/>
          <a:stretch>
            <a:fillRect/>
          </a:stretch>
        </p:blipFill>
        <p:spPr>
          <a:xfrm>
            <a:off x="621792" y="1536192"/>
            <a:ext cx="6254496" cy="1865330"/>
          </a:xfrm>
          <a:prstGeom prst="rect">
            <a:avLst/>
          </a:prstGeom>
        </p:spPr>
      </p:pic>
      <p:sp>
        <p:nvSpPr>
          <p:cNvPr id="6" name="Test forecast figure frame"/>
          <p:cNvSpPr/>
          <p:nvPr/>
        </p:nvSpPr>
        <p:spPr>
          <a:xfrm>
            <a:off x="7178040" y="1463040"/>
            <a:ext cx="4480560" cy="1787649"/>
          </a:xfrm>
          <a:prstGeom prst="rect">
            <a:avLst/>
          </a:prstGeom>
          <a:solidFill>
            <a:srgbClr val="FCFCFB"/>
          </a:solidFill>
          <a:ln w="9525">
            <a:solidFill>
              <a:srgbClr val="E3E7EE"/>
            </a:solidFill>
            <a:prstDash val="solid"/>
          </a:ln>
          <a:effectLst>
            <a:outerShdw blurRad="76200" dist="25400" dir="5400000" algn="bl" rotWithShape="0">
              <a:srgbClr val="000000">
                <a:alpha val="12000"/>
              </a:srgbClr>
            </a:outerShdw>
          </a:effectLst>
        </p:spPr>
      </p:sp>
      <p:pic>
        <p:nvPicPr>
          <p:cNvPr id="7" name="Test forecast figure" descr="/home/claude/v3/figs/figures/test_forecast_city.png"/>
          <p:cNvPicPr>
            <a:picLocks noChangeAspect="1"/>
          </p:cNvPicPr>
          <p:nvPr/>
        </p:nvPicPr>
        <p:blipFill>
          <a:blip r:embed="rId2"/>
          <a:stretch>
            <a:fillRect/>
          </a:stretch>
        </p:blipFill>
        <p:spPr>
          <a:xfrm>
            <a:off x="7251192" y="1536192"/>
            <a:ext cx="4334256" cy="1641345"/>
          </a:xfrm>
          <a:prstGeom prst="rect">
            <a:avLst/>
          </a:prstGeom>
        </p:spPr>
      </p:pic>
      <p:sp>
        <p:nvSpPr>
          <p:cNvPr id="8" name="Error caption"/>
          <p:cNvSpPr txBox="1"/>
          <p:nvPr/>
        </p:nvSpPr>
        <p:spPr>
          <a:xfrm>
            <a:off x="548640" y="3584402"/>
            <a:ext cx="6400800" cy="548640"/>
          </a:xfrm>
          <a:prstGeom prst="rect">
            <a:avLst/>
          </a:prstGeom>
          <a:noFill/>
        </p:spPr>
        <p:txBody>
          <a:bodyPr wrap="square" lIns="0" tIns="0" rIns="0" bIns="0" rtlCol="0" anchor="t"/>
          <a:lstStyle/>
          <a:p>
            <a:pPr marL="0" indent="0">
              <a:buNone/>
            </a:pPr>
            <a:r>
              <a:rPr lang="en-US" sz="1200" b="1" dirty="0">
                <a:solidFill>
                  <a:schemeClr val="tx2"/>
                </a:solidFill>
              </a:rPr>
              <a:t>Top 10 misses: </a:t>
            </a:r>
            <a:r>
              <a:rPr lang="en-US" sz="1200" dirty="0">
                <a:solidFill>
                  <a:schemeClr val="tx1"/>
                </a:solidFill>
              </a:rPr>
              <a:t>4 rainy rush hours (Kazanchis 26 Sep 17:00: 311 vs 131), 3 events bigger than expected, 3 spikes with no listed event.</a:t>
            </a:r>
            <a:endParaRPr lang="en-US" sz="1200" dirty="0"/>
          </a:p>
        </p:txBody>
      </p:sp>
      <p:sp>
        <p:nvSpPr>
          <p:cNvPr id="9" name="Forecast caption"/>
          <p:cNvSpPr txBox="1"/>
          <p:nvPr/>
        </p:nvSpPr>
        <p:spPr>
          <a:xfrm>
            <a:off x="7178040" y="3584402"/>
            <a:ext cx="4480560" cy="548640"/>
          </a:xfrm>
          <a:prstGeom prst="rect">
            <a:avLst/>
          </a:prstGeom>
          <a:noFill/>
        </p:spPr>
        <p:txBody>
          <a:bodyPr wrap="square" lIns="0" tIns="0" rIns="0" bIns="0" rtlCol="0" anchor="t"/>
          <a:lstStyle/>
          <a:p>
            <a:pPr marL="0" indent="0">
              <a:buNone/>
            </a:pPr>
            <a:r>
              <a:rPr lang="en-US" sz="1200" b="1" dirty="0">
                <a:solidFill>
                  <a:schemeClr val="tx2"/>
                </a:solidFill>
              </a:rPr>
              <a:t>Test forecast: </a:t>
            </a:r>
            <a:r>
              <a:rPr lang="en-US" sz="1200" dirty="0">
                <a:solidFill>
                  <a:schemeClr val="tx1"/>
                </a:solidFill>
              </a:rPr>
              <a:t>keeps the daily rhythm; mean 32.8 trips vs 33.4 in late October.</a:t>
            </a:r>
            <a:endParaRPr lang="en-US" sz="1200" dirty="0"/>
          </a:p>
        </p:txBody>
      </p:sp>
      <p:sp>
        <p:nvSpPr>
          <p:cNvPr id="10" name="Final score card"/>
          <p:cNvSpPr/>
          <p:nvPr/>
        </p:nvSpPr>
        <p:spPr>
          <a:xfrm>
            <a:off x="548640" y="4343400"/>
            <a:ext cx="3520440" cy="1691640"/>
          </a:xfrm>
          <a:prstGeom prst="roundRect">
            <a:avLst>
              <a:gd name="adj" fmla="val 4324"/>
            </a:avLst>
          </a:prstGeom>
          <a:solidFill>
            <a:schemeClr val="tx2"/>
          </a:solidFill>
        </p:spPr>
      </p:sp>
      <p:sp>
        <p:nvSpPr>
          <p:cNvPr id="11" name="Final score text"/>
          <p:cNvSpPr txBox="1"/>
          <p:nvPr/>
        </p:nvSpPr>
        <p:spPr>
          <a:xfrm>
            <a:off x="777240" y="4462272"/>
            <a:ext cx="3108960" cy="1508760"/>
          </a:xfrm>
          <a:prstGeom prst="rect">
            <a:avLst/>
          </a:prstGeom>
          <a:noFill/>
        </p:spPr>
        <p:txBody>
          <a:bodyPr wrap="square" lIns="0" tIns="0" rIns="0" bIns="0" rtlCol="0" anchor="t"/>
          <a:lstStyle/>
          <a:p>
            <a:pPr marL="0" indent="0">
              <a:spcAft>
                <a:spcPts val="500"/>
              </a:spcAft>
              <a:buNone/>
            </a:pPr>
            <a:r>
              <a:rPr lang="en-US" sz="1200" b="1" kern="0" spc="200" dirty="0">
                <a:solidFill>
                  <a:schemeClr val="accent5"/>
                </a:solidFill>
              </a:rPr>
              <a:t>FINAL SCORE</a:t>
            </a:r>
            <a:endParaRPr lang="en-US" sz="1200" dirty="0"/>
          </a:p>
          <a:p>
            <a:pPr marL="0" indent="0">
              <a:spcAft>
                <a:spcPts val="500"/>
              </a:spcAft>
              <a:buNone/>
            </a:pPr>
            <a:r>
              <a:rPr lang="en-US" sz="2000" b="1" dirty="0">
                <a:solidFill>
                  <a:schemeClr val="bg1"/>
                </a:solidFill>
                <a:latin typeface="Arial" panose="020B0604020202020204" pitchFamily="34" charset="0"/>
                <a:ea typeface="Arial" panose="020B0604020202020204" pitchFamily="34" charset="-122"/>
                <a:cs typeface="Arial" panose="020B0604020202020204" pitchFamily="34" charset="-120"/>
              </a:rPr>
              <a:t>MAE 6.1 · RMSE 9.39</a:t>
            </a:r>
            <a:endParaRPr lang="en-US" sz="1200" dirty="0"/>
          </a:p>
          <a:p>
            <a:pPr marL="0" indent="0">
              <a:spcAft>
                <a:spcPts val="500"/>
              </a:spcAft>
              <a:buNone/>
            </a:pPr>
            <a:r>
              <a:rPr lang="en-US" sz="1300" dirty="0">
                <a:solidFill>
                  <a:schemeClr val="bg1"/>
                </a:solidFill>
              </a:rPr>
              <a:t>Validation, 4 rolling fortnights. About 5 drivers off in a typical zone-hour of 33 trips. submission.csv: 4,032 rows.</a:t>
            </a:r>
            <a:endParaRPr lang="en-US" sz="1200" dirty="0"/>
          </a:p>
        </p:txBody>
      </p:sp>
      <p:sp>
        <p:nvSpPr>
          <p:cNvPr id="12" name="Live demo card"/>
          <p:cNvSpPr/>
          <p:nvPr/>
        </p:nvSpPr>
        <p:spPr>
          <a:xfrm>
            <a:off x="4343400" y="4343400"/>
            <a:ext cx="3520440" cy="1691640"/>
          </a:xfrm>
          <a:prstGeom prst="roundRect">
            <a:avLst>
              <a:gd name="adj" fmla="val 4324"/>
            </a:avLst>
          </a:prstGeom>
          <a:solidFill>
            <a:schemeClr val="bg2"/>
          </a:solidFill>
        </p:spPr>
      </p:sp>
      <p:sp>
        <p:nvSpPr>
          <p:cNvPr id="13" name="Live demo text"/>
          <p:cNvSpPr txBox="1"/>
          <p:nvPr/>
        </p:nvSpPr>
        <p:spPr>
          <a:xfrm>
            <a:off x="4572000" y="4462272"/>
            <a:ext cx="3108960" cy="1508760"/>
          </a:xfrm>
          <a:prstGeom prst="rect">
            <a:avLst/>
          </a:prstGeom>
          <a:noFill/>
        </p:spPr>
        <p:txBody>
          <a:bodyPr wrap="square" lIns="0" tIns="0" rIns="0" bIns="0" rtlCol="0" anchor="t"/>
          <a:lstStyle/>
          <a:p>
            <a:pPr marL="0" indent="0">
              <a:spcAft>
                <a:spcPts val="500"/>
              </a:spcAft>
              <a:buNone/>
            </a:pPr>
            <a:r>
              <a:rPr lang="en-US" sz="1200" b="1" kern="0" spc="200" dirty="0">
                <a:solidFill>
                  <a:schemeClr val="accent1"/>
                </a:solidFill>
              </a:rPr>
              <a:t>LIVE DEMO</a:t>
            </a:r>
            <a:endParaRPr lang="en-US" sz="1200" dirty="0"/>
          </a:p>
          <a:p>
            <a:pPr marL="0" indent="0">
              <a:spcAft>
                <a:spcPts val="500"/>
              </a:spcAft>
              <a:buNone/>
            </a:pPr>
            <a:endParaRPr lang="en-US" sz="1200" dirty="0"/>
          </a:p>
          <a:p>
            <a:pPr marL="0" indent="0">
              <a:spcAft>
                <a:spcPts val="500"/>
              </a:spcAft>
              <a:buNone/>
            </a:pPr>
            <a:r>
              <a:rPr lang="en-US" sz="1300" dirty="0">
                <a:solidFill>
                  <a:schemeClr val="tx1"/>
                </a:solidFill>
              </a:rPr>
              <a:t>Choose any zone and date in 1–14 Nov → the hourly forecast for that day.</a:t>
            </a:r>
            <a:endParaRPr lang="en-US" sz="1200" dirty="0"/>
          </a:p>
        </p:txBody>
      </p:sp>
      <p:sp>
        <p:nvSpPr>
          <p:cNvPr id="14" name="What we'd try next card"/>
          <p:cNvSpPr/>
          <p:nvPr/>
        </p:nvSpPr>
        <p:spPr>
          <a:xfrm>
            <a:off x="8138160" y="4343400"/>
            <a:ext cx="3520440" cy="1691640"/>
          </a:xfrm>
          <a:prstGeom prst="roundRect">
            <a:avLst>
              <a:gd name="adj" fmla="val 4324"/>
            </a:avLst>
          </a:prstGeom>
          <a:solidFill>
            <a:schemeClr val="bg2"/>
          </a:solidFill>
        </p:spPr>
      </p:sp>
      <p:sp>
        <p:nvSpPr>
          <p:cNvPr id="15" name="What we'd try next text"/>
          <p:cNvSpPr txBox="1"/>
          <p:nvPr/>
        </p:nvSpPr>
        <p:spPr>
          <a:xfrm>
            <a:off x="8366760" y="4462272"/>
            <a:ext cx="3108960" cy="1508760"/>
          </a:xfrm>
          <a:prstGeom prst="rect">
            <a:avLst/>
          </a:prstGeom>
          <a:noFill/>
        </p:spPr>
        <p:txBody>
          <a:bodyPr wrap="square" lIns="0" tIns="0" rIns="0" bIns="0" rtlCol="0" anchor="t"/>
          <a:lstStyle/>
          <a:p>
            <a:pPr marL="0" indent="0">
              <a:spcAft>
                <a:spcPts val="500"/>
              </a:spcAft>
              <a:buNone/>
            </a:pPr>
            <a:endParaRPr lang="en-US" sz="1200" dirty="0"/>
          </a:p>
        </p:txBody>
      </p:sp>
      <p:sp>
        <p:nvSpPr>
          <p:cNvPr id="25" name="Slide Number Placeholder 0"/>
          <p:cNvSpPr>
            <a:spLocks noGrp="1"/>
          </p:cNvSpPr>
          <p:nvPr>
            <p:ph type="sldNum" sz="quarter" idx="4294967295"/>
          </p:nvPr>
        </p:nvSpPr>
        <p:spPr>
          <a:xfrm>
            <a:off x="11338560" y="6400800"/>
            <a:ext cx="457200" cy="274320"/>
          </a:xfrm>
          <a:prstGeom prst="rect">
            <a:avLst/>
          </a:prstGeom>
        </p:spPr>
        <p:txBody>
          <a:bodyPr/>
          <a:lstStyle>
            <a:lvl1pPr>
              <a:defRPr sz="1000">
                <a:solidFill>
                  <a:schemeClr val="accent4"/>
                </a:solidFill>
                <a:latin typeface="Calibri" panose="020F0502020204030204"/>
                <a:ea typeface="Calibri" panose="020F0502020204030204"/>
                <a:cs typeface="Calibri" panose="020F0502020204030204"/>
              </a:defRPr>
            </a:lvl1pPr>
          </a:lstStyle>
          <a:p>
            <a:pPr algn="l"/>
            <a:fld id="{F7021451-1387-4CA6-816F-3879F97B5CBC}" type="slidenum">
              <a:rPr lang="en-US" b="0"/>
            </a:fld>
            <a:endParaRPr lang="en-US"/>
          </a:p>
        </p:txBody>
      </p:sp>
    </p:spTree>
  </p:cSld>
  <p:clrMapOvr>
    <a:masterClrMapping/>
  </p:clrMapOvr>
</p:sld>
</file>

<file path=ppt/theme/theme1.xml><?xml version="1.0" encoding="utf-8"?>
<a:theme xmlns:a="http://schemas.openxmlformats.org/drawingml/2006/main" name="Addis Ride Demand">
  <a:themeElements>
    <a:clrScheme name="Addis Ride Demand">
      <a:dk1>
        <a:srgbClr val="1A2230"/>
      </a:dk1>
      <a:lt1>
        <a:srgbClr val="FFFFFF"/>
      </a:lt1>
      <a:dk2>
        <a:srgbClr val="15294A"/>
      </a:dk2>
      <a:lt2>
        <a:srgbClr val="EEF3FA"/>
      </a:lt2>
      <a:accent1>
        <a:srgbClr val="2C7BE5"/>
      </a:accent1>
      <a:accent2>
        <a:srgbClr val="E8692F"/>
      </a:accent2>
      <a:accent3>
        <a:srgbClr val="1FA37A"/>
      </a:accent3>
      <a:accent4>
        <a:srgbClr val="8A94A6"/>
      </a:accent4>
      <a:accent5>
        <a:srgbClr val="F4B740"/>
      </a:accent5>
      <a:accent6>
        <a:srgbClr val="C9D3E3"/>
      </a:accent6>
      <a:hlink>
        <a:srgbClr val="2C7BE5"/>
      </a:hlink>
      <a:folHlink>
        <a:srgbClr val="15294A"/>
      </a:folHlink>
    </a:clrScheme>
    <a:fontScheme name="Addis Ride Demand">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Addis Ride Demand">
  <a:themeElements>
    <a:clrScheme name="Addis Ride Demand">
      <a:dk1>
        <a:srgbClr val="1A2230"/>
      </a:dk1>
      <a:lt1>
        <a:srgbClr val="FFFFFF"/>
      </a:lt1>
      <a:dk2>
        <a:srgbClr val="15294A"/>
      </a:dk2>
      <a:lt2>
        <a:srgbClr val="EEF3FA"/>
      </a:lt2>
      <a:accent1>
        <a:srgbClr val="2C7BE5"/>
      </a:accent1>
      <a:accent2>
        <a:srgbClr val="E8692F"/>
      </a:accent2>
      <a:accent3>
        <a:srgbClr val="1FA37A"/>
      </a:accent3>
      <a:accent4>
        <a:srgbClr val="8A94A6"/>
      </a:accent4>
      <a:accent5>
        <a:srgbClr val="F4B740"/>
      </a:accent5>
      <a:accent6>
        <a:srgbClr val="C9D3E3"/>
      </a:accent6>
      <a:hlink>
        <a:srgbClr val="2C7BE5"/>
      </a:hlink>
      <a:folHlink>
        <a:srgbClr val="15294A"/>
      </a:folHlink>
    </a:clrScheme>
    <a:fontScheme name="Addis Ride Demand">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3656</Words>
  <Application>WPS Presentation</Application>
  <PresentationFormat>On-screen Show (16:9)</PresentationFormat>
  <Paragraphs>137</Paragraphs>
  <Slides>7</Slides>
  <Notes>7</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7</vt:i4>
      </vt:variant>
    </vt:vector>
  </HeadingPairs>
  <TitlesOfParts>
    <vt:vector size="19" baseType="lpstr">
      <vt:lpstr>Arial</vt:lpstr>
      <vt:lpstr>SimSun</vt:lpstr>
      <vt:lpstr>Wingdings</vt:lpstr>
      <vt:lpstr>Calibri</vt:lpstr>
      <vt:lpstr>Calibri</vt:lpstr>
      <vt:lpstr>Calibri</vt:lpstr>
      <vt:lpstr>Calibri</vt:lpstr>
      <vt:lpstr>Arial</vt:lpstr>
      <vt:lpstr>Arial</vt:lpstr>
      <vt:lpstr>Microsoft YaHei</vt:lpstr>
      <vt:lpstr>Arial Unicode MS</vt:lpstr>
      <vt:lpstr>Addis Ride Demand</vt:lpstr>
      <vt:lpstr>PowerPoint 演示文稿</vt:lpstr>
      <vt:lpstr>How many rides will each Addis zone need, every hour?</vt:lpstr>
      <vt:lpstr>Trips stay the left table, so every join keeps all 82,742 zone-hours</vt:lpstr>
      <vt:lpstr>Demand grew 41%, and each zone type has its own rhythm</vt:lpstr>
      <vt:lpstr>Rain and big events push demand up — except at the market</vt:lpstr>
      <vt:lpstr>Tuned LightGBM beats the seasonal-naive baseline in every fold</vt:lpstr>
      <vt:lpstr>Errors cluster at evening peaks, rainy hours and unlisted spikes</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Hourly ride demand forecasting — Addis Ababa</dc:title>
  <dc:creator>PptxGenJS</dc:creator>
  <dc:subject>PptxGenJS Presentation</dc:subject>
  <cp:lastModifiedBy>Amina Aman</cp:lastModifiedBy>
  <cp:revision>2</cp:revision>
  <dcterms:created xsi:type="dcterms:W3CDTF">2026-10-06T14:18:00Z</dcterms:created>
  <dcterms:modified xsi:type="dcterms:W3CDTF">2026-10-06T14:29:52Z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FE5C949699A74C32AB8E74E696117D1A_12</vt:lpwstr>
  </property>
  <property fmtid="{D5CDD505-2E9C-101B-9397-08002B2CF9AE}" pid="3" name="KSOProductBuildVer">
    <vt:lpwstr>1033-12.1.0.28485</vt:lpwstr>
  </property>
</Properties>
</file>